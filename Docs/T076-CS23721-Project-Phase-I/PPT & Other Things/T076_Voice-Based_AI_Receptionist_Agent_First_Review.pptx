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79" r:id="rId16"/>
    <p:sldId id="281" r:id="rId17"/>
    <p:sldId id="282" r:id="rId18"/>
    <p:sldId id="283" r:id="rId19"/>
    <p:sldId id="285" r:id="rId20"/>
    <p:sldId id="284" r:id="rId21"/>
    <p:sldId id="276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5706" autoAdjust="0"/>
  </p:normalViewPr>
  <p:slideViewPr>
    <p:cSldViewPr>
      <p:cViewPr varScale="1">
        <p:scale>
          <a:sx n="56" d="100"/>
          <a:sy n="56" d="100"/>
        </p:scale>
        <p:origin x="749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8D380-F31D-4571-9742-F832D6EA4D93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DDFA5-5B9B-47EE-9BE3-05330877A9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96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DDFA5-5B9B-47EE-9BE3-05330877A9F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004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823849" y="2258704"/>
            <a:ext cx="6289040" cy="588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298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0580" y="197232"/>
            <a:ext cx="14326368" cy="14048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1099" y="2718659"/>
            <a:ext cx="15982950" cy="6542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59361" y="9380579"/>
            <a:ext cx="4369434" cy="570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30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30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3462" y="9255948"/>
            <a:ext cx="16033115" cy="2540"/>
          </a:xfrm>
          <a:custGeom>
            <a:avLst/>
            <a:gdLst/>
            <a:ahLst/>
            <a:cxnLst/>
            <a:rect l="l" t="t" r="r" b="b"/>
            <a:pathLst>
              <a:path w="16033115" h="2540">
                <a:moveTo>
                  <a:pt x="0" y="2350"/>
                </a:moveTo>
                <a:lnTo>
                  <a:pt x="16032954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9206" y="280768"/>
            <a:ext cx="1500186" cy="17144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71551" y="3558183"/>
            <a:ext cx="13145135" cy="288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600"/>
              </a:lnSpc>
              <a:spcBef>
                <a:spcPts val="100"/>
              </a:spcBef>
            </a:pPr>
            <a:r>
              <a:rPr lang="en-IN" sz="5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T076 - Voice-Based </a:t>
            </a:r>
            <a:r>
              <a:rPr lang="en-IN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Receptionist Agent for Smart College Communication</a:t>
            </a:r>
            <a:br>
              <a:rPr lang="en-IN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dirty="0"/>
              <a:t/>
            </a:r>
            <a:br>
              <a:rPr lang="en-IN" sz="5400" dirty="0"/>
            </a:br>
            <a:endParaRPr sz="5000" dirty="0"/>
          </a:p>
        </p:txBody>
      </p:sp>
      <p:sp>
        <p:nvSpPr>
          <p:cNvPr id="5" name="object 5"/>
          <p:cNvSpPr txBox="1"/>
          <p:nvPr/>
        </p:nvSpPr>
        <p:spPr>
          <a:xfrm>
            <a:off x="11353800" y="6852694"/>
            <a:ext cx="5560060" cy="2908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30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30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sz="30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lang="en-US" sz="3000" b="1" spc="-25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Akash N (</a:t>
            </a: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2116230701019)</a:t>
            </a:r>
          </a:p>
          <a:p>
            <a:pPr marL="12700">
              <a:spcBef>
                <a:spcPts val="100"/>
              </a:spcBef>
            </a:pP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Kamalesh </a:t>
            </a:r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P (2116230701138)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3835" y="2332758"/>
            <a:ext cx="1422019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DEPARTMENT</a:t>
            </a:r>
            <a:r>
              <a:rPr sz="3800" b="1" spc="-15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COMPUTER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SCIENCE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ENGINEERING</a:t>
            </a:r>
            <a:endParaRPr sz="38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651" y="449437"/>
            <a:ext cx="4263354" cy="137716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6000" y="5531820"/>
            <a:ext cx="7518400" cy="4229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SDGs </a:t>
            </a:r>
            <a:r>
              <a:rPr sz="3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Covered</a:t>
            </a:r>
            <a:endParaRPr sz="3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lang="en-US" sz="3000" b="1" dirty="0" smtClean="0">
                <a:solidFill>
                  <a:srgbClr val="002060"/>
                </a:solidFill>
                <a:latin typeface="Times New Roman"/>
                <a:cs typeface="Times New Roman"/>
              </a:rPr>
              <a:t>SDG 04 - </a:t>
            </a:r>
            <a:r>
              <a:rPr lang="en-US" sz="3000" dirty="0" smtClean="0">
                <a:solidFill>
                  <a:srgbClr val="002060"/>
                </a:solidFill>
                <a:latin typeface="Times New Roman"/>
                <a:cs typeface="Times New Roman"/>
              </a:rPr>
              <a:t>Quality Education</a:t>
            </a:r>
          </a:p>
          <a:p>
            <a:pPr marL="12700" marR="5080">
              <a:lnSpc>
                <a:spcPct val="100000"/>
              </a:lnSpc>
            </a:pPr>
            <a:r>
              <a:rPr sz="3000" b="1" dirty="0" smtClean="0">
                <a:solidFill>
                  <a:srgbClr val="002060"/>
                </a:solidFill>
                <a:latin typeface="Times New Roman"/>
                <a:cs typeface="Times New Roman"/>
              </a:rPr>
              <a:t>SDG</a:t>
            </a:r>
            <a:r>
              <a:rPr sz="3000" b="1" spc="-50" dirty="0" smtClean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3000" b="1" spc="-50" dirty="0">
                <a:solidFill>
                  <a:srgbClr val="002060"/>
                </a:solidFill>
                <a:latin typeface="Times New Roman"/>
                <a:cs typeface="Times New Roman"/>
              </a:rPr>
              <a:t>0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9</a:t>
            </a:r>
            <a:r>
              <a:rPr sz="3000" b="1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3000" b="1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002060"/>
                </a:solidFill>
                <a:latin typeface="Times New Roman"/>
                <a:cs typeface="Times New Roman"/>
              </a:rPr>
              <a:t>Industry,</a:t>
            </a:r>
            <a:r>
              <a:rPr sz="30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Innovation</a:t>
            </a:r>
            <a:r>
              <a:rPr sz="30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30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02060"/>
                </a:solidFill>
                <a:latin typeface="Times New Roman"/>
                <a:cs typeface="Times New Roman"/>
              </a:rPr>
              <a:t>Infrastructure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SDG</a:t>
            </a:r>
            <a:r>
              <a:rPr sz="30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16</a:t>
            </a:r>
            <a:r>
              <a:rPr sz="30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30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Peace,</a:t>
            </a:r>
            <a:r>
              <a:rPr sz="30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Justice</a:t>
            </a:r>
            <a:r>
              <a:rPr sz="3000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30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Strong</a:t>
            </a:r>
            <a:r>
              <a:rPr sz="30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02060"/>
                </a:solidFill>
                <a:latin typeface="Times New Roman"/>
                <a:cs typeface="Times New Roman"/>
              </a:rPr>
              <a:t>Institutions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US"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3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Supervisor</a:t>
            </a:r>
            <a:endParaRPr lang="en-US" sz="3000" b="1" spc="-1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B. Bhuvaneswaran, </a:t>
            </a:r>
          </a:p>
          <a:p>
            <a:pPr marL="12700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(SG)</a:t>
            </a:r>
          </a:p>
          <a:p>
            <a:pPr marL="12700">
              <a:lnSpc>
                <a:spcPct val="100000"/>
              </a:lnSpc>
            </a:pP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14449" y="1660873"/>
            <a:ext cx="9348470" cy="207645"/>
            <a:chOff x="1314449" y="1660873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328737" y="167516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328737" y="167516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1209494"/>
          </a:xfrm>
          <a:prstGeom prst="rect">
            <a:avLst/>
          </a:prstGeom>
        </p:spPr>
        <p:txBody>
          <a:bodyPr vert="horz" wrap="square" lIns="0" tIns="466277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33284" y="2001994"/>
            <a:ext cx="13328015" cy="1010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AI &amp; Artificial Intelligence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: 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RAG, LLM &amp; Agentic AI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7754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28794" y="3132078"/>
            <a:ext cx="534517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TOPIC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A6249379-6305-F356-7F35-42EF965C4392}"/>
              </a:ext>
            </a:extLst>
          </p:cNvPr>
          <p:cNvSpPr txBox="1"/>
          <p:nvPr/>
        </p:nvSpPr>
        <p:spPr>
          <a:xfrm>
            <a:off x="1110580" y="3165532"/>
            <a:ext cx="906540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receive many calls about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admissions, courses, fees, placements, facilities, and student services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call handling increases workload and causes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time, inconsistent replies, and limited availability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STT, LLMs, RAG, and TTS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intelligent voice communication.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AI Receptionist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understands queries, retrieves college information, and provides accurate voice responses.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and Agentic AI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grounded answers, intelligent handling, and human escalation.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94C0A3E-D031-C343-D868-46D799AA31ED}"/>
              </a:ext>
            </a:extLst>
          </p:cNvPr>
          <p:cNvSpPr txBox="1"/>
          <p:nvPr/>
        </p:nvSpPr>
        <p:spPr>
          <a:xfrm>
            <a:off x="10648632" y="3695340"/>
            <a:ext cx="69342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routine inquiries and reduces receptionist workload.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24×7 access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college information.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consistent, knowledge-based responses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caller experience through faster information access.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human escalation and future personalized student services.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4431" y="1518801"/>
            <a:ext cx="9348470" cy="207645"/>
            <a:chOff x="1164431" y="1518801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178718" y="153308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178718" y="153308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1195344"/>
          </a:xfrm>
          <a:prstGeom prst="rect">
            <a:avLst/>
          </a:prstGeom>
        </p:spPr>
        <p:txBody>
          <a:bodyPr vert="horz" wrap="square" lIns="0" tIns="4522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OBJECTIVES/SCOPE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sz="half" idx="3"/>
          </p:nvPr>
        </p:nvSpPr>
        <p:spPr>
          <a:xfrm>
            <a:off x="10058400" y="2044843"/>
            <a:ext cx="7848600" cy="83150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329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routine college inquiries.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and consistent responses.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24×7 institutional information.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receptionist workload and waiting time.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intelligent escalation for unresolved queries.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secure personalized student services in Phase 2.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scope includes voice-based inquiry handling, STT, RAG-based information retrieval, LLM response generation, TTS, multi-turn interaction, and human call escalation. Phase 2 extends the system to authenticated student queries such as attendance, marks, fee status, and placement eligibility.</a:t>
            </a:r>
            <a:endParaRPr lang="en-IN" sz="26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2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6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99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0581" y="1904421"/>
            <a:ext cx="8661594" cy="7866897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AI Receptionist Agent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smart college communication.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handles telephone inquiries related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admissions, departments, facilities, placements, events, and academic information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caller's spoken queries.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and an LLM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retrieve relevant institutional information and generate grounded responses.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deliver responses naturally to the caller.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multi-turn conversations and provides a planned human escalation mechanism for unresolved queries.</a:t>
            </a:r>
            <a:endParaRPr lang="en-US" sz="2800" b="1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2509" y="1684625"/>
            <a:ext cx="9348470" cy="207645"/>
            <a:chOff x="1032509" y="1684625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046797" y="1698912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046797" y="1698912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7748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53732" y="3774495"/>
            <a:ext cx="9621203" cy="52527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40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Volume of Routine Inquiries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Reception staff repeatedly handle similar queries.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Assistance is restricted to working hours and staff availability.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Responses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Callers may experience waiting time during busy periods.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Information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Responses may vary depending on the staff member or available information.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Handling Complex Queries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Some queries require information retrieval or human assistance.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01400" y="3874607"/>
            <a:ext cx="6014953" cy="518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Important?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workload of reception staff.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consistent information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callers.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through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24×7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voice availability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student and parent communication.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handling with human escalation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required.</a:t>
            </a:r>
          </a:p>
          <a:p>
            <a:pPr marL="12700">
              <a:lnSpc>
                <a:spcPts val="3329"/>
              </a:lnSpc>
              <a:spcBef>
                <a:spcPts val="100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99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6797" y="2016545"/>
            <a:ext cx="16325533" cy="1726113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just">
              <a:lnSpc>
                <a:spcPts val="3300"/>
              </a:lnSpc>
              <a:spcBef>
                <a:spcPts val="259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receive a high volume of telephone inquiries about admissions, departments, fees, hostel facilities, placements, and academic information. However, the college currently lacks an automated voice system that can understand natural-language queries and provide accurate, context-grounded responses from institutional information.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7400" y="493928"/>
            <a:ext cx="7005107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3500" b="1" spc="-11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35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z="35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OUR’S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605899" y="521016"/>
            <a:ext cx="6460837" cy="504624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822450" marR="5080" indent="-1810385">
              <a:lnSpc>
                <a:spcPts val="3679"/>
              </a:lnSpc>
              <a:spcBef>
                <a:spcPts val="234"/>
              </a:spcBef>
            </a:pP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sz="3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10800" y="1191260"/>
            <a:ext cx="7756237" cy="765465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accents and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Tamil-English code-mixed speech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Low-Latency Processing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fast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STT → RAG → LLM → TTS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RAG Retrieval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Retrieving the correct information from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 and PDFs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Grounding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hallucinations and unsupported answers.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Conversation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context during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calls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Telephony Integration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live audio streaming and reliable call handling.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Escalation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unresolved or sensitive queries smoothly.</a:t>
            </a:r>
          </a:p>
          <a:p>
            <a:pPr marL="12700" marR="365125">
              <a:lnSpc>
                <a:spcPts val="3090"/>
              </a:lnSpc>
              <a:spcBef>
                <a:spcPts val="229"/>
              </a:spcBef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23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6361D7DE-8286-DB16-5E94-15940A057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10" y="1265195"/>
            <a:ext cx="8063194" cy="7558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418321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3767" y="306089"/>
            <a:ext cx="5072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97940" y="9381807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44280" y="9418321"/>
            <a:ext cx="4851639" cy="29751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19224" y="9381807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49008" y="5052570"/>
            <a:ext cx="6461125" cy="22826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0"/>
              </a:spcBef>
            </a:pPr>
            <a:r>
              <a:rPr lang="en-US" sz="2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COLLEGE KNOWLEDGE BASE</a:t>
            </a:r>
            <a:r>
              <a:rPr sz="225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lang="en-US" sz="2250" b="1" spc="229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REC 2023 UG Regulations</a:t>
            </a: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R2023 CSE Curriculum &amp; Syllabus</a:t>
            </a: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spc="229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Certificate for Medium of Instruction</a:t>
            </a: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spc="229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Certificate for CGPA to Percentage Conversion</a:t>
            </a:r>
            <a:endParaRPr lang="en-US" sz="2250" spc="229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84061" y="7418761"/>
            <a:ext cx="6461125" cy="15183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VECTOR CORPUS</a:t>
            </a:r>
            <a:r>
              <a:rPr sz="225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r>
              <a:rPr sz="225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		</a:t>
            </a:r>
            <a:endParaRPr lang="en-US" sz="225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686 indexed chunks</a:t>
            </a:r>
          </a:p>
          <a:p>
            <a:pPr marL="355600" marR="508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Sentence-Transformers </a:t>
            </a:r>
            <a:r>
              <a:rPr lang="en-US" sz="2400" dirty="0" err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embeddings</a:t>
            </a:r>
            <a:endParaRPr lang="en-US" sz="24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dirty="0" err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ChromaDB</a:t>
            </a: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vector store</a:t>
            </a:r>
            <a:endParaRPr sz="225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8200" y="1279058"/>
            <a:ext cx="8207165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Listen. Retrieve. Respond. Escalate intelligently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0539" y="1750547"/>
            <a:ext cx="9036421" cy="6308778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Gather college website content, PDFs, circulars, handbooks, and academic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and chunk the collected content with relevant source metadata.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chunks into embeddings and store them in </a:t>
            </a:r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RAG retrieval.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caller speech into text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 relevant knowledge and use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a grounded response.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the response into natural speech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conversation history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interactions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Escalate →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unresolved or human-required queries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planned receptionist transfer.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2730"/>
              </a:lnSpc>
              <a:spcBef>
                <a:spcPts val="215"/>
              </a:spcBef>
              <a:tabLst>
                <a:tab pos="346075" algn="l"/>
              </a:tabLst>
            </a:pP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399" y="7697350"/>
            <a:ext cx="9312275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Caller speaks → Speech is converted to text → Relevant knowledge is retrieved → Grounded response is generated → Response is converted to speech → Caller receives answer → Escalation identified if required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39378" y="1526443"/>
            <a:ext cx="523220" cy="3018155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r>
              <a:rPr sz="34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39378" y="4837396"/>
            <a:ext cx="523220" cy="4003269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3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DATA SOURCES</a:t>
            </a:r>
            <a:endParaRPr sz="3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152967" y="1574731"/>
            <a:ext cx="0" cy="7230109"/>
          </a:xfrm>
          <a:custGeom>
            <a:avLst/>
            <a:gdLst/>
            <a:ahLst/>
            <a:cxnLst/>
            <a:rect l="l" t="t" r="r" b="b"/>
            <a:pathLst>
              <a:path h="7230109">
                <a:moveTo>
                  <a:pt x="0" y="0"/>
                </a:moveTo>
                <a:lnTo>
                  <a:pt x="0" y="7230090"/>
                </a:lnTo>
              </a:path>
            </a:pathLst>
          </a:custGeom>
          <a:ln w="3809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6333" y="1345090"/>
            <a:ext cx="6385747" cy="3492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4400" y="3965675"/>
            <a:ext cx="4174490" cy="12350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966469">
              <a:lnSpc>
                <a:spcPts val="4730"/>
              </a:lnSpc>
              <a:spcBef>
                <a:spcPts val="265"/>
              </a:spcBef>
            </a:pP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90160" y="576556"/>
            <a:ext cx="12483465" cy="8322309"/>
            <a:chOff x="5090160" y="576556"/>
            <a:chExt cx="12483465" cy="8322309"/>
          </a:xfrm>
        </p:grpSpPr>
        <p:pic>
          <p:nvPicPr>
            <p:cNvPr id="5" name="object 5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7305" y="587986"/>
              <a:ext cx="12449014" cy="82993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90160" y="576556"/>
              <a:ext cx="12483465" cy="8322309"/>
            </a:xfrm>
            <a:custGeom>
              <a:avLst/>
              <a:gdLst/>
              <a:ahLst/>
              <a:cxnLst/>
              <a:rect l="l" t="t" r="r" b="b"/>
              <a:pathLst>
                <a:path w="12483465" h="8322309">
                  <a:moveTo>
                    <a:pt x="0" y="0"/>
                  </a:moveTo>
                  <a:lnTo>
                    <a:pt x="0" y="8322170"/>
                  </a:lnTo>
                  <a:lnTo>
                    <a:pt x="12483255" y="8322170"/>
                  </a:lnTo>
                  <a:lnTo>
                    <a:pt x="12483255" y="0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/>
          <p:nvPr/>
        </p:nvSpPr>
        <p:spPr>
          <a:xfrm>
            <a:off x="2738297" y="5508218"/>
            <a:ext cx="1924050" cy="2273935"/>
          </a:xfrm>
          <a:custGeom>
            <a:avLst/>
            <a:gdLst/>
            <a:ahLst/>
            <a:cxnLst/>
            <a:rect l="l" t="t" r="r" b="b"/>
            <a:pathLst>
              <a:path w="1924050" h="2273934">
                <a:moveTo>
                  <a:pt x="1923554" y="2042731"/>
                </a:moveTo>
                <a:lnTo>
                  <a:pt x="1577441" y="1935492"/>
                </a:lnTo>
                <a:lnTo>
                  <a:pt x="1573441" y="1934425"/>
                </a:lnTo>
                <a:lnTo>
                  <a:pt x="1540649" y="1954047"/>
                </a:lnTo>
                <a:lnTo>
                  <a:pt x="1538605" y="1966175"/>
                </a:lnTo>
                <a:lnTo>
                  <a:pt x="1539989" y="1974342"/>
                </a:lnTo>
                <a:lnTo>
                  <a:pt x="1563306" y="1995195"/>
                </a:lnTo>
                <a:lnTo>
                  <a:pt x="1759318" y="2041626"/>
                </a:lnTo>
                <a:lnTo>
                  <a:pt x="1696567" y="2052459"/>
                </a:lnTo>
                <a:lnTo>
                  <a:pt x="1637842" y="2060282"/>
                </a:lnTo>
                <a:lnTo>
                  <a:pt x="1572971" y="2065909"/>
                </a:lnTo>
                <a:lnTo>
                  <a:pt x="1502283" y="2068156"/>
                </a:lnTo>
                <a:lnTo>
                  <a:pt x="1464868" y="2067648"/>
                </a:lnTo>
                <a:lnTo>
                  <a:pt x="1426133" y="2065870"/>
                </a:lnTo>
                <a:lnTo>
                  <a:pt x="1386116" y="2062645"/>
                </a:lnTo>
                <a:lnTo>
                  <a:pt x="1344853" y="2057857"/>
                </a:lnTo>
                <a:lnTo>
                  <a:pt x="1302410" y="2051342"/>
                </a:lnTo>
                <a:lnTo>
                  <a:pt x="1258798" y="2042972"/>
                </a:lnTo>
                <a:lnTo>
                  <a:pt x="1214094" y="2032571"/>
                </a:lnTo>
                <a:lnTo>
                  <a:pt x="1168311" y="2020023"/>
                </a:lnTo>
                <a:lnTo>
                  <a:pt x="1121498" y="2005164"/>
                </a:lnTo>
                <a:lnTo>
                  <a:pt x="1073721" y="1987854"/>
                </a:lnTo>
                <a:lnTo>
                  <a:pt x="1024991" y="1967941"/>
                </a:lnTo>
                <a:lnTo>
                  <a:pt x="975385" y="1945284"/>
                </a:lnTo>
                <a:lnTo>
                  <a:pt x="924915" y="1919744"/>
                </a:lnTo>
                <a:lnTo>
                  <a:pt x="873633" y="1891157"/>
                </a:lnTo>
                <a:lnTo>
                  <a:pt x="821588" y="1859394"/>
                </a:lnTo>
                <a:lnTo>
                  <a:pt x="768819" y="1824291"/>
                </a:lnTo>
                <a:lnTo>
                  <a:pt x="715365" y="1785721"/>
                </a:lnTo>
                <a:lnTo>
                  <a:pt x="661276" y="1743519"/>
                </a:lnTo>
                <a:lnTo>
                  <a:pt x="606590" y="1697558"/>
                </a:lnTo>
                <a:lnTo>
                  <a:pt x="551357" y="1647672"/>
                </a:lnTo>
                <a:lnTo>
                  <a:pt x="495617" y="1593735"/>
                </a:lnTo>
                <a:lnTo>
                  <a:pt x="439407" y="1535582"/>
                </a:lnTo>
                <a:lnTo>
                  <a:pt x="387172" y="1477098"/>
                </a:lnTo>
                <a:lnTo>
                  <a:pt x="339610" y="1418488"/>
                </a:lnTo>
                <a:lnTo>
                  <a:pt x="296545" y="1359827"/>
                </a:lnTo>
                <a:lnTo>
                  <a:pt x="257784" y="1301242"/>
                </a:lnTo>
                <a:lnTo>
                  <a:pt x="223151" y="1242796"/>
                </a:lnTo>
                <a:lnTo>
                  <a:pt x="192455" y="1184617"/>
                </a:lnTo>
                <a:lnTo>
                  <a:pt x="165519" y="1126782"/>
                </a:lnTo>
                <a:lnTo>
                  <a:pt x="142151" y="1069403"/>
                </a:lnTo>
                <a:lnTo>
                  <a:pt x="122161" y="1012571"/>
                </a:lnTo>
                <a:lnTo>
                  <a:pt x="105397" y="956386"/>
                </a:lnTo>
                <a:lnTo>
                  <a:pt x="91643" y="900938"/>
                </a:lnTo>
                <a:lnTo>
                  <a:pt x="80733" y="846328"/>
                </a:lnTo>
                <a:lnTo>
                  <a:pt x="72478" y="792657"/>
                </a:lnTo>
                <a:lnTo>
                  <a:pt x="66700" y="740016"/>
                </a:lnTo>
                <a:lnTo>
                  <a:pt x="63195" y="688517"/>
                </a:lnTo>
                <a:lnTo>
                  <a:pt x="61810" y="638238"/>
                </a:lnTo>
                <a:lnTo>
                  <a:pt x="62344" y="589280"/>
                </a:lnTo>
                <a:lnTo>
                  <a:pt x="64617" y="541756"/>
                </a:lnTo>
                <a:lnTo>
                  <a:pt x="68440" y="495744"/>
                </a:lnTo>
                <a:lnTo>
                  <a:pt x="73647" y="451345"/>
                </a:lnTo>
                <a:lnTo>
                  <a:pt x="80035" y="408673"/>
                </a:lnTo>
                <a:lnTo>
                  <a:pt x="87426" y="367817"/>
                </a:lnTo>
                <a:lnTo>
                  <a:pt x="95643" y="328853"/>
                </a:lnTo>
                <a:lnTo>
                  <a:pt x="113804" y="257073"/>
                </a:lnTo>
                <a:lnTo>
                  <a:pt x="133045" y="194094"/>
                </a:lnTo>
                <a:lnTo>
                  <a:pt x="151917" y="140703"/>
                </a:lnTo>
                <a:lnTo>
                  <a:pt x="168935" y="97688"/>
                </a:lnTo>
                <a:lnTo>
                  <a:pt x="191554" y="45859"/>
                </a:lnTo>
                <a:lnTo>
                  <a:pt x="193751" y="40601"/>
                </a:lnTo>
                <a:lnTo>
                  <a:pt x="195021" y="36817"/>
                </a:lnTo>
                <a:lnTo>
                  <a:pt x="195541" y="32943"/>
                </a:lnTo>
                <a:lnTo>
                  <a:pt x="195072" y="24993"/>
                </a:lnTo>
                <a:lnTo>
                  <a:pt x="167830" y="0"/>
                </a:lnTo>
                <a:lnTo>
                  <a:pt x="159854" y="215"/>
                </a:lnTo>
                <a:lnTo>
                  <a:pt x="136283" y="19126"/>
                </a:lnTo>
                <a:lnTo>
                  <a:pt x="134150" y="24231"/>
                </a:lnTo>
                <a:lnTo>
                  <a:pt x="112623" y="73571"/>
                </a:lnTo>
                <a:lnTo>
                  <a:pt x="96329" y="114376"/>
                </a:lnTo>
                <a:lnTo>
                  <a:pt x="78066" y="164998"/>
                </a:lnTo>
                <a:lnTo>
                  <a:pt x="59143" y="224777"/>
                </a:lnTo>
                <a:lnTo>
                  <a:pt x="40855" y="293001"/>
                </a:lnTo>
                <a:lnTo>
                  <a:pt x="24498" y="368985"/>
                </a:lnTo>
                <a:lnTo>
                  <a:pt x="17449" y="409663"/>
                </a:lnTo>
                <a:lnTo>
                  <a:pt x="11379" y="452043"/>
                </a:lnTo>
                <a:lnTo>
                  <a:pt x="6426" y="495998"/>
                </a:lnTo>
                <a:lnTo>
                  <a:pt x="2768" y="541477"/>
                </a:lnTo>
                <a:lnTo>
                  <a:pt x="571" y="588365"/>
                </a:lnTo>
                <a:lnTo>
                  <a:pt x="0" y="636600"/>
                </a:lnTo>
                <a:lnTo>
                  <a:pt x="1193" y="686079"/>
                </a:lnTo>
                <a:lnTo>
                  <a:pt x="4330" y="736727"/>
                </a:lnTo>
                <a:lnTo>
                  <a:pt x="9588" y="788454"/>
                </a:lnTo>
                <a:lnTo>
                  <a:pt x="17094" y="841171"/>
                </a:lnTo>
                <a:lnTo>
                  <a:pt x="27038" y="894791"/>
                </a:lnTo>
                <a:lnTo>
                  <a:pt x="39573" y="949236"/>
                </a:lnTo>
                <a:lnTo>
                  <a:pt x="54851" y="1004404"/>
                </a:lnTo>
                <a:lnTo>
                  <a:pt x="73050" y="1060234"/>
                </a:lnTo>
                <a:lnTo>
                  <a:pt x="94335" y="1116609"/>
                </a:lnTo>
                <a:lnTo>
                  <a:pt x="118846" y="1173467"/>
                </a:lnTo>
                <a:lnTo>
                  <a:pt x="146773" y="1230706"/>
                </a:lnTo>
                <a:lnTo>
                  <a:pt x="178257" y="1288249"/>
                </a:lnTo>
                <a:lnTo>
                  <a:pt x="213461" y="1346009"/>
                </a:lnTo>
                <a:lnTo>
                  <a:pt x="252552" y="1403896"/>
                </a:lnTo>
                <a:lnTo>
                  <a:pt x="295706" y="1461833"/>
                </a:lnTo>
                <a:lnTo>
                  <a:pt x="343065" y="1519720"/>
                </a:lnTo>
                <a:lnTo>
                  <a:pt x="394792" y="1577479"/>
                </a:lnTo>
                <a:lnTo>
                  <a:pt x="451573" y="1636280"/>
                </a:lnTo>
                <a:lnTo>
                  <a:pt x="507898" y="1690954"/>
                </a:lnTo>
                <a:lnTo>
                  <a:pt x="563727" y="1741627"/>
                </a:lnTo>
                <a:lnTo>
                  <a:pt x="619023" y="1788439"/>
                </a:lnTo>
                <a:lnTo>
                  <a:pt x="673747" y="1831530"/>
                </a:lnTo>
                <a:lnTo>
                  <a:pt x="727849" y="1871052"/>
                </a:lnTo>
                <a:lnTo>
                  <a:pt x="781291" y="1907120"/>
                </a:lnTo>
                <a:lnTo>
                  <a:pt x="834034" y="1939886"/>
                </a:lnTo>
                <a:lnTo>
                  <a:pt x="886028" y="1969490"/>
                </a:lnTo>
                <a:lnTo>
                  <a:pt x="937247" y="1996084"/>
                </a:lnTo>
                <a:lnTo>
                  <a:pt x="987640" y="2019795"/>
                </a:lnTo>
                <a:lnTo>
                  <a:pt x="1037170" y="2040750"/>
                </a:lnTo>
                <a:lnTo>
                  <a:pt x="1085799" y="2059114"/>
                </a:lnTo>
                <a:lnTo>
                  <a:pt x="1133475" y="2075014"/>
                </a:lnTo>
                <a:lnTo>
                  <a:pt x="1180172" y="2088603"/>
                </a:lnTo>
                <a:lnTo>
                  <a:pt x="1225842" y="2099995"/>
                </a:lnTo>
                <a:lnTo>
                  <a:pt x="1270431" y="2109343"/>
                </a:lnTo>
                <a:lnTo>
                  <a:pt x="1313916" y="2116798"/>
                </a:lnTo>
                <a:lnTo>
                  <a:pt x="1356245" y="2122487"/>
                </a:lnTo>
                <a:lnTo>
                  <a:pt x="1397393" y="2126551"/>
                </a:lnTo>
                <a:lnTo>
                  <a:pt x="1437297" y="2129129"/>
                </a:lnTo>
                <a:lnTo>
                  <a:pt x="1475930" y="2130374"/>
                </a:lnTo>
                <a:lnTo>
                  <a:pt x="1513243" y="2130412"/>
                </a:lnTo>
                <a:lnTo>
                  <a:pt x="1549209" y="2129383"/>
                </a:lnTo>
                <a:lnTo>
                  <a:pt x="1616900" y="2124684"/>
                </a:lnTo>
                <a:lnTo>
                  <a:pt x="1678660" y="2117420"/>
                </a:lnTo>
                <a:lnTo>
                  <a:pt x="1723669" y="2110448"/>
                </a:lnTo>
                <a:lnTo>
                  <a:pt x="1553184" y="2216734"/>
                </a:lnTo>
                <a:lnTo>
                  <a:pt x="1538833" y="2243721"/>
                </a:lnTo>
                <a:lnTo>
                  <a:pt x="1540192" y="2251672"/>
                </a:lnTo>
                <a:lnTo>
                  <a:pt x="1570532" y="2273503"/>
                </a:lnTo>
                <a:lnTo>
                  <a:pt x="1578508" y="2272258"/>
                </a:lnTo>
                <a:lnTo>
                  <a:pt x="1913026" y="2064804"/>
                </a:lnTo>
                <a:lnTo>
                  <a:pt x="1922780" y="2048598"/>
                </a:lnTo>
                <a:lnTo>
                  <a:pt x="1923554" y="2042731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7940" y="9381807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9361" y="9381807"/>
            <a:ext cx="599463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19224" y="9381807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542922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781119"/>
          </a:xfrm>
          <a:prstGeom prst="rect">
            <a:avLst/>
          </a:prstGeom>
        </p:spPr>
        <p:txBody>
          <a:bodyPr vert="horz" wrap="square" lIns="0" tIns="163965" rIns="0" bIns="0" rtlCol="0">
            <a:spAutoFit/>
          </a:bodyPr>
          <a:lstStyle/>
          <a:p>
            <a:pPr marL="1626235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INNOVATIONS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9844" y="9632314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9361" y="9524682"/>
            <a:ext cx="614703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19224" y="9562782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77203" y="2741984"/>
            <a:ext cx="9189507" cy="595483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AI: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caller speech through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MicroSIP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PJSIP → Asterisk →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AudioSocket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RAG-Based Responses: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Retrieves relevant curriculum/document chunks from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generating answers.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Speech Recognition: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Faster-Whisper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speech-to-text processing.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Context-Grounded LLM: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answers using retrieved institutional information.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Interaction: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conversation context for follow-up questions.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Escalation: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unresolved or human-required queries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receptionist transfer.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96200" y="3009900"/>
            <a:ext cx="0" cy="4787265"/>
          </a:xfrm>
          <a:custGeom>
            <a:avLst/>
            <a:gdLst/>
            <a:ahLst/>
            <a:cxnLst/>
            <a:rect l="l" t="t" r="r" b="b"/>
            <a:pathLst>
              <a:path h="4787265">
                <a:moveTo>
                  <a:pt x="0" y="0"/>
                </a:moveTo>
                <a:lnTo>
                  <a:pt x="0" y="4786671"/>
                </a:lnTo>
              </a:path>
            </a:pathLst>
          </a:custGeom>
          <a:ln w="3809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7139" y="1622194"/>
            <a:ext cx="17134205" cy="691856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987425" marR="5080" indent="-975360" algn="ctr">
              <a:lnSpc>
                <a:spcPts val="2630"/>
              </a:lnSpc>
              <a:spcBef>
                <a:spcPts val="195"/>
              </a:spcBef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USP: An intelligent voice receptionist that combines real-time telephony, speech recognition, RAG-based knowledge retrieval, local LLM reasoning, and planned human escalation for college communication.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9666" y="8663969"/>
            <a:ext cx="15851489" cy="833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sz="1800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1800" b="1" i="1" spc="-55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endParaRPr lang="en-US" sz="1800" b="1" i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Reception-as-a-Service: 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Automates routine college inquiries, reduces receptionist workload, and provides 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24×7 accessible information support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1211E48D-25E2-D733-6272-1A09EC511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99" y="3314700"/>
            <a:ext cx="6697102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04370" y="407403"/>
            <a:ext cx="70034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USE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819224" y="9380579"/>
            <a:ext cx="17081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058307"/>
              </p:ext>
            </p:extLst>
          </p:nvPr>
        </p:nvGraphicFramePr>
        <p:xfrm>
          <a:off x="715505" y="1219593"/>
          <a:ext cx="16781144" cy="79185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528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952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9528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1952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Use Case Step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Module(s) Involved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Status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Notes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Caller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Initiates Voice Call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MicroSIP</a:t>
                      </a:r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Asterisk, </a:t>
                      </a:r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AudioSocket</a:t>
                      </a:r>
                      <a:endParaRPr lang="en-US" sz="19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Receives caller audio through SIP telephony.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Speech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Recognition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Audio Gateway, VAD, Faster-Whisper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Detects speech and converts caller speech to text.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Knowledge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Retrieval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RAG, Sentence Transformers, </a:t>
                      </a:r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ChromaDB</a:t>
                      </a:r>
                      <a:endParaRPr lang="en-US" sz="19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Retrieves relevant institutional knowledge.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Grounded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Response Generation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Ollama</a:t>
                      </a:r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RAG Pipeline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Generates answers using retrieved college information.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Voice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Response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Piper TTS, </a:t>
                      </a:r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AudioSocket</a:t>
                      </a:r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Asterisk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Converts response to speech and plays it to caller.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Follow-up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Query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Session Context, STT, RAG, LLM, TTS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Implemented / Tested</a:t>
                      </a:r>
                      <a:endParaRPr lang="en-US" sz="19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Maintains context for follow-up questions within the call.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14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USE CASE – LIVE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50" y="1678667"/>
            <a:ext cx="5295899" cy="28178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129" y="1660929"/>
            <a:ext cx="5362574" cy="28533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253" y="5631328"/>
            <a:ext cx="5772149" cy="30652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730" y="1584662"/>
            <a:ext cx="5743574" cy="30560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585" y="5631328"/>
            <a:ext cx="5248274" cy="306523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673968" y="9380579"/>
            <a:ext cx="3162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09457" y="4802312"/>
            <a:ext cx="154709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call execution demonstrating the implemented Phase-1 voice → RAG → LLM → TTS pipeline.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637" rIns="0" bIns="0" rtlCol="0">
            <a:spAutoFit/>
          </a:bodyPr>
          <a:lstStyle/>
          <a:p>
            <a:pPr marL="23552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USE CASE – LIVE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940" y="3479414"/>
            <a:ext cx="5327753" cy="36822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961" y="1877986"/>
            <a:ext cx="5337938" cy="36822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50698" y="7810500"/>
            <a:ext cx="16070502" cy="784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20"/>
              </a:spcBef>
            </a:pPr>
            <a:r>
              <a:rPr lang="en-US" sz="2500" b="1" dirty="0" smtClean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RAG pipeline was evaluated using 20 test queries. The system achieved 100% Retrieval Hit@5, 94.44% Answer Accuracy on normal queries, and 100% Refusal Accuracy on negative queries.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766040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6168" y="3479413"/>
            <a:ext cx="4710568" cy="36822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6299440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80603"/>
              </p:ext>
            </p:extLst>
          </p:nvPr>
        </p:nvGraphicFramePr>
        <p:xfrm>
          <a:off x="837248" y="2324101"/>
          <a:ext cx="16916401" cy="6830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774779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7577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Alec Radford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Robust Speech Recognition via Large-Scale Weak Supervision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-189865">
                        <a:lnSpc>
                          <a:spcPct val="100000"/>
                        </a:lnSpc>
                        <a:spcBef>
                          <a:spcPts val="969"/>
                        </a:spcBef>
                        <a:buChar char="•"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Whisper encoder-decoder Transformer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Trained using large-scale multilingual and multitask speech data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Demonstrates robust speech recognition across accents, languages, background noise, and different speech conditions, making Whisper suitable for the STT layer of voice applications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07044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Ghayas</a:t>
                      </a:r>
                      <a:r>
                        <a:rPr lang="en-IN" sz="2600" dirty="0"/>
                        <a:t> Ahmed &amp; Aadil Ahmad </a:t>
                      </a:r>
                      <a:r>
                        <a:rPr lang="en-IN" sz="2600" dirty="0" err="1"/>
                        <a:t>Lawaye</a:t>
                      </a:r>
                      <a:r>
                        <a:rPr lang="en-IN" sz="2600" dirty="0"/>
                        <a:t>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End-to-end ASR framework for Indian-English accent: using speech CNN-based segmentation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189865">
                        <a:lnSpc>
                          <a:spcPct val="114999"/>
                        </a:lnSpc>
                        <a:spcBef>
                          <a:spcPts val="520"/>
                        </a:spcBef>
                        <a:buChar char="•"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End-to-end ASR framework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CNN-based speech segmentation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Specifically considers Indian-English accent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the importance of handling Indian-English pronunciation and long-form speech effectively, supporting accent-aware STT evaluation for the proposed receptionist.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6147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79424"/>
              </p:ext>
            </p:extLst>
          </p:nvPr>
        </p:nvGraphicFramePr>
        <p:xfrm>
          <a:off x="914400" y="2209759"/>
          <a:ext cx="16915449" cy="6824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8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776632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46344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Tahir Javed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 err="1"/>
                        <a:t>Svarah</a:t>
                      </a:r>
                      <a:r>
                        <a:rPr lang="en-IN" sz="2800" dirty="0"/>
                        <a:t>: Evaluating English ASR Systems on Indian Accents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800" dirty="0"/>
                        <a:t>• Indian-English speech benchmark</a:t>
                      </a:r>
                      <a:br>
                        <a:rPr lang="en-IN" sz="2800" dirty="0"/>
                      </a:br>
                      <a:r>
                        <a:rPr lang="en-IN" sz="2800" dirty="0"/>
                        <a:t>• Evaluated ASR systems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ASR systems require evaluation and improvement for Indian accents.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44567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Shelly Jain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An Investigation of Indian Native Language Phonemic Influences on L2 English Pronunciations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Analysed 18 Indian languages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Studied pronunciation variations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Shows that native-language influence affects Indian-English pronunciation and provides useful insights for improving accent robustness in speech systems.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24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3646DE-D763-3347-EBDC-8B3A2BA5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2C54D03E-E9B5-9663-C26F-EAA894009192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7ADD90CE-C600-0721-0C71-EC7FB369B75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787E576B-F5D6-BE89-0CFB-04DE94588DAA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D151BA90-4025-F18C-776F-C76D0438823E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5ABE2046-F95F-5586-6A9B-0533A4537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4BB4908D-9C3B-451A-FD4F-A7F92DB7BC2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5B5658E6-11DD-40FF-C648-09C2FB0D4BE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64518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6F3F5ED6-DCA1-15F8-62BF-701C2BF0A00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FCF7A402-44B1-6283-B606-2DF60193C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32766"/>
              </p:ext>
            </p:extLst>
          </p:nvPr>
        </p:nvGraphicFramePr>
        <p:xfrm>
          <a:off x="837248" y="2324101"/>
          <a:ext cx="16916401" cy="6625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801411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23565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Priyanshi Pal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Study of Indian English Pronunciation Variabilities Relative to Received Pronunciation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600" dirty="0"/>
                        <a:t>Analysed Indian-English pronunciation variations 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600" dirty="0"/>
                        <a:t>Developed phonetic rules for ASR/TTS</a:t>
                      </a:r>
                    </a:p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Demonstrates that Indian-English pronunciation variations should be considered when designing ASR and TTS systems for Indian users.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28224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Munazza Zaib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Conversational Question Answering: A Survey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2600" dirty="0"/>
                        <a:t>Reviews conversational QA systems 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600" dirty="0"/>
                        <a:t>Covers multi-turn question answering</a:t>
                      </a:r>
                    </a:p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Establishes the importance of context-aware, multi-turn QA, directly supporting the receptionist's ability to handle follow-up questions during the same call.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52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C5D51AE-0BA9-64D0-D898-A0FF883A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B8C3D6AA-CD68-C4D3-3557-FE65307C5DB8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197925A6-921C-DCC2-C7EB-26688F7EDDC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AF198472-3A78-8BDE-D890-2C05F206CB59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4A2B7E28-328C-3DE3-3DE1-5F93C3EC0F04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1AB5EE96-FEF1-3C1F-B276-F1DF452D6E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FAC24527-DFDE-6CF2-D63B-9679AB41F00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443FC22F-3917-6FB9-B70B-895272CFABC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9946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D07CD5ED-A53C-E002-45B8-8FDA2C14797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283ECB91-059E-4685-CE08-530955175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346756"/>
              </p:ext>
            </p:extLst>
          </p:nvPr>
        </p:nvGraphicFramePr>
        <p:xfrm>
          <a:off x="837248" y="2324101"/>
          <a:ext cx="16916401" cy="682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746915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17963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Ryan Fellows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Task-Oriented Dialogue Systems: Performance vs. Quality-Optima, A Review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Reviews task-oriented dialogue systems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Analyses task resolution and conversational quality attributes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successful task completion alone is insufficient; conversational quality and user satisfaction are also important for an effective AI receptionist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22527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Vojtěch Hudeček &amp; Ondřej Dušek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Are Large Language Models All You Need for Task-Oriented Dialogue?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Evaluates LLMs for multi-turn task-oriented dialogue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Tests interaction with external databases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Finds that LLMs can generate effective task-oriented responses but still have limitations in precise state tracking, supporting the use of controlled retrieval and API-based processing.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46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8DD44CA-8013-CEA1-74D6-80D601CB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A395AF8A-968C-FA87-0FA8-B8FCDA3CFCE2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70460B68-4008-E80E-DF49-20809D651AD1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F51F8E4F-1C79-E80B-0C68-B7192BD579AC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417ADF18-2F46-2E55-2E86-F3D97E69A24F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875CC6D2-3AED-FD2A-EABB-2FDF17C476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44CE3644-728C-B334-BC47-182AEC62566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D8AEF345-39FA-C075-C546-E490938A5CE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9184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CC503AD2-FEB3-1BAE-7D6F-0DA96D2FB54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58EFCAB4-6D9C-3384-5945-190247BBA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864488"/>
              </p:ext>
            </p:extLst>
          </p:nvPr>
        </p:nvGraphicFramePr>
        <p:xfrm>
          <a:off x="837248" y="2324101"/>
          <a:ext cx="16916401" cy="681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3391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38010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Gonçalo Raposo et al. (2023)</a:t>
                      </a:r>
                      <a:endParaRPr lang="en-IN"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Prompting, Retrieval, Training: An Exploration of Different Approaches for Task-Oriented Dialogue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Compares prompting, retrieval and fine-tuning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Evaluates FLAN-T5, GPT-3.5 and GPT-4 on dialogue datasets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combining general LLMs with retrieval-based prompting can be effective for task-oriented dialogue, supporting the proposed RAG-based approach.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50309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 err="1"/>
                        <a:t>Shunyu</a:t>
                      </a:r>
                      <a:r>
                        <a:rPr lang="en-IN" sz="2800" dirty="0"/>
                        <a:t> Yao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 err="1"/>
                        <a:t>ReAct</a:t>
                      </a:r>
                      <a:r>
                        <a:rPr lang="en-IN" sz="2800" dirty="0"/>
                        <a:t>: Synergizing Reasoning and Acting in Language Models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Combines reasoning and action generation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Allows LLMs to interact with external knowledge sources and environments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Supports intelligent reasoning and actions.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Enables interaction with external tools.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 Provides a basis for Agentic AI.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9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C7986B7-06DD-B53F-FDD7-A4CE6232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502761D6-DFC7-C1E8-1F84-B21D3E12168D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335A59E9-2142-8FD7-42B4-5987009AC53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8808CCAA-BC9E-E3C7-3449-237F4430972D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8C3BF78B-A977-44E5-C0F0-03A7A60B948C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7D2F8BD5-0071-E69E-EABB-3499EDA7D4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4AE98555-717D-C0B9-2B11-015DB0D06AA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AA552045-F29F-FC9C-2DF4-8795921E290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A49154D5-0AFC-8387-8EE9-019D734728B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B7D2F514-2FEC-2775-0E97-82A9C723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886524"/>
              </p:ext>
            </p:extLst>
          </p:nvPr>
        </p:nvGraphicFramePr>
        <p:xfrm>
          <a:off x="837248" y="2324101"/>
          <a:ext cx="16916401" cy="681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3391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38010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Timo Schick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Toolformer</a:t>
                      </a:r>
                      <a:r>
                        <a:rPr lang="en-IN" sz="2600" dirty="0"/>
                        <a:t>: Language Models Can Teach Themselves to Use Tools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LLM learns when and how to call external APIs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Integrates external tools into language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Demonstrates that LLMs can use external APIs for tasks requiring factual lookup and computation, supporting future integration with institutional APIs such as </a:t>
                      </a:r>
                      <a:r>
                        <a:rPr lang="en-IN" sz="2600" dirty="0" err="1"/>
                        <a:t>DigiCampus</a:t>
                      </a:r>
                      <a:r>
                        <a:rPr lang="en-IN" sz="2600" dirty="0"/>
                        <a:t>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50309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Shishir G. Patil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Gorilla: Large Language Model Connected with Massive APIs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Fine-tuned LLM for accurate API-call generation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Uses document retrieval with API information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retrieval-assisted API calling can reduce incorrect tool usage and improve reliability, relevant to secure student-data API access in Phase 2.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91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6CFD2D5-60E0-5C87-E11F-C82090E9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BD0F9CDB-6C79-BA84-35D8-276C9B03C22B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08E11D3A-5A31-5138-FA7B-FD9235C582CB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4EAF3425-70EB-9D4C-2BF3-16CF93A1DB04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A4390962-1587-8C73-65F2-8265BB329355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55B70CC5-914E-8233-DE06-F77E4E977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DD2CABDD-1565-46CD-4702-4C36B55F1F1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06DE39DF-A606-9816-AF64-E05DDFC764E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766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EEB4A85A-AAC1-4B1F-2267-076AC06AA5C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11E025CE-F471-B134-2643-FE38ACAF9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683218"/>
              </p:ext>
            </p:extLst>
          </p:nvPr>
        </p:nvGraphicFramePr>
        <p:xfrm>
          <a:off x="837248" y="2324101"/>
          <a:ext cx="16916401" cy="6873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00878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85631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Lei Wang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 Survey on Large Language Model based Autonomous Agents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Reviews LLM-based autonomous-agent architectures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Studies planning, tool use, applications and evaluation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Provides a broad foundation for designing Agentic AI systems and supports the proposed architecture where the LLM decides whether to answer, retrieve information or invoke an external service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10548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Xiao Liu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AgentBench</a:t>
                      </a:r>
                      <a:r>
                        <a:rPr lang="en-IN" sz="2600" dirty="0"/>
                        <a:t>: Evaluating LLMs as Agents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Evaluates LLM agents across eight interactive environments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Measures reasoning and decision-making abilities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• Agent behaviour requires proper evaluation.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Highlights reasoning limitations.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Supports controlled agent design.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99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35B8B89-706A-6C4A-759E-0C6DFB533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E9461E71-F98A-7B41-27A1-389C253A1756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4677A706-CE1A-BA53-976A-0D0A3E75B4FB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C4AD104F-BFEE-C317-3EEE-B0DE6FEE6EA2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8096B6AC-2FE1-00CD-06BC-652E58107BD5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39500911-52F2-8B2A-0B18-6F4D22ABB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3C490302-5439-1896-F862-A8891A65CE8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05CE38FA-11AB-AA91-6F54-9A8504CFD4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D89B5049-B038-FBAB-9B8B-BA0781A9D5D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D87B8895-02E2-B219-C04D-960FB28B3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099196"/>
              </p:ext>
            </p:extLst>
          </p:nvPr>
        </p:nvGraphicFramePr>
        <p:xfrm>
          <a:off x="837248" y="2210280"/>
          <a:ext cx="16916401" cy="7018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7036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lang="en-US"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3056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Shi-Qi Yan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Corrective Retrieval Augmented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Retrieval-quality evaluator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Corrective retrieval actions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Filters irrelevant retrieved information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evaluating retrieval quality before generation can improve RAG robustness, supporting confidence-based answering and escalation when reliable information is unavailable.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61192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Shahul Es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RAGAs: Automated Evaluation of Retrieval Augmented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Reference-free RAG evaluation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Measures retrieval relevance, generation quality and faithfulness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Provides a practical framework for evaluating the proposed RAG pipeline, particularly for measuring whether responses are grounded in retrieved college information. 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3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1B97794-610B-2978-E061-1C23DF28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E66F3C24-CE4C-BACD-BBE5-F5EB6EF5A428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43AA42D7-A1E2-71F9-D6C9-7BABD405EBB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EE6C9C0C-7C07-5901-1B04-6090A570FC1F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8579B930-7AB7-8CC2-45F0-BA416F13E9C0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DEA058EB-2DC1-B98A-32F1-B0EFD714C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62886794-15B2-C3B9-0EEE-25DFE65FDCA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04BF2D38-F505-6D8C-374E-C210FD83C92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766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005A2EFC-3195-4C23-9DCF-87BC2E88725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7EDBFEAC-D761-DBF9-A01D-0B3818F65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910"/>
              </p:ext>
            </p:extLst>
          </p:nvPr>
        </p:nvGraphicFramePr>
        <p:xfrm>
          <a:off x="837248" y="2324101"/>
          <a:ext cx="16916401" cy="679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7010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61030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Yunfan</a:t>
                      </a:r>
                      <a:r>
                        <a:rPr lang="en-IN" sz="2600" dirty="0"/>
                        <a:t> Gao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Retrieval-Augmented Generation for Large Language Models: A Survey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Reviews Naive, Advanced and Modular RAG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Analyses retrieval, augmentation and generation components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Establishes RAG as an effective approach for reducing hallucination and incorporating domain-specific, updatable knowledge into LLM applications.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27239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Akari Asai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Self-RAG: Learning to Retrieve, Generate, and Critique through Self-Reflection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Adaptive retrieval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Generation with self-reflection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Critiques retrieved evidence and generated responses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Self-reflection improves factuality Supports better response grounding , Improves retrieval and generation quality.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94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7768" y="2328862"/>
            <a:ext cx="9348470" cy="207645"/>
            <a:chOff x="1197768" y="2328862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798419" y="5187082"/>
            <a:ext cx="45389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60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99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673968" y="9380579"/>
            <a:ext cx="3162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2882</TotalTime>
  <Words>2151</Words>
  <Application>Microsoft Office PowerPoint</Application>
  <PresentationFormat>Custom</PresentationFormat>
  <Paragraphs>319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Times New Roman</vt:lpstr>
      <vt:lpstr>Verdana</vt:lpstr>
      <vt:lpstr>Office Theme</vt:lpstr>
      <vt:lpstr>T076 - Voice-Based AI Receptionist Agent for Smart College Communication  </vt:lpstr>
      <vt:lpstr>INTRODUCTION</vt:lpstr>
      <vt:lpstr>PROJECT OVERVIEW &amp; OBJECTIVES/SCOPE</vt:lpstr>
      <vt:lpstr>PROBLEM STATEMENT</vt:lpstr>
      <vt:lpstr>REALTIME CHALLENGES FACED</vt:lpstr>
      <vt:lpstr>METHODOLOGY</vt:lpstr>
      <vt:lpstr>SYSTEM ARCHITECTURE</vt:lpstr>
      <vt:lpstr>        NOVELTY AND KEY INNOVATIONS </vt:lpstr>
      <vt:lpstr>END-TO-END USE CASE</vt:lpstr>
      <vt:lpstr>END-TO-END USE CASE – LIVE DEMO</vt:lpstr>
      <vt:lpstr>END-TO-END USE CASE – LIVE DEMO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Review ppt.pptx</dc:title>
  <dc:creator>MOHANA PRIYA R 230701191</dc:creator>
  <cp:keywords>DAHS-0TgD9Y,BAGTD6xFMaQ</cp:keywords>
  <cp:lastModifiedBy>kamalesh s.p.</cp:lastModifiedBy>
  <cp:revision>35</cp:revision>
  <dcterms:created xsi:type="dcterms:W3CDTF">2026-08-24T17:58:25Z</dcterms:created>
  <dcterms:modified xsi:type="dcterms:W3CDTF">2026-08-31T04:31:29Z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2026-08-23T00:00:00Z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2026-08-24T00:00:00Z</vt:filetime>
  </property>
  <property fmtid="{D5CDD505-2E9C-101B-9397-08002B2CF9AE}" pid="6" name="Producer">
    <vt:lpwstr>Canva</vt:lpwstr>
  </property>
</Properties>
</file>