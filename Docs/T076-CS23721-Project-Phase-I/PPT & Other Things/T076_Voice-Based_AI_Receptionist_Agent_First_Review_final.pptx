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7" r:id="rId14"/>
    <p:sldId id="278" r:id="rId15"/>
    <p:sldId id="279" r:id="rId16"/>
    <p:sldId id="281" r:id="rId17"/>
    <p:sldId id="282" r:id="rId18"/>
    <p:sldId id="283" r:id="rId19"/>
    <p:sldId id="284" r:id="rId20"/>
    <p:sldId id="285" r:id="rId21"/>
    <p:sldId id="276" r:id="rId22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5706" autoAdjust="0"/>
  </p:normalViewPr>
  <p:slideViewPr>
    <p:cSldViewPr>
      <p:cViewPr varScale="1">
        <p:scale>
          <a:sx n="56" d="100"/>
          <a:sy n="56" d="100"/>
        </p:scale>
        <p:origin x="749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48D380-F31D-4571-9742-F832D6EA4D93}" type="datetimeFigureOut">
              <a:rPr lang="en-IN" smtClean="0"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85DDFA5-5B9B-47EE-9BE3-05330877A9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2965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5DDFA5-5B9B-47EE-9BE3-05330877A9F3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7004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823849" y="2258704"/>
            <a:ext cx="6289040" cy="58877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1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8287999" cy="1022984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110580" y="197232"/>
            <a:ext cx="14326368" cy="140485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1" i="0">
                <a:solidFill>
                  <a:srgbClr val="FF0000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181099" y="2718659"/>
            <a:ext cx="15982950" cy="65424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959361" y="9380579"/>
            <a:ext cx="4369434" cy="5702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/>
              <a:t>Department</a:t>
            </a:r>
            <a:r>
              <a:rPr spc="-70" dirty="0"/>
              <a:t> </a:t>
            </a:r>
            <a:r>
              <a:rPr dirty="0"/>
              <a:t>of</a:t>
            </a:r>
            <a:r>
              <a:rPr spc="-65" dirty="0"/>
              <a:t> </a:t>
            </a:r>
            <a:r>
              <a:rPr dirty="0"/>
              <a:t>Computer</a:t>
            </a:r>
            <a:r>
              <a:rPr spc="-65" dirty="0"/>
              <a:t> </a:t>
            </a:r>
            <a:r>
              <a:rPr dirty="0"/>
              <a:t>Science</a:t>
            </a:r>
            <a:r>
              <a:rPr spc="-70" dirty="0"/>
              <a:t> </a:t>
            </a:r>
            <a:r>
              <a:rPr spc="-25" dirty="0"/>
              <a:t>and </a:t>
            </a:r>
            <a:r>
              <a:rPr spc="-10" dirty="0"/>
              <a:t>Engineering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3035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/>
              <a:t>First</a:t>
            </a:r>
            <a:r>
              <a:rPr spc="-40" dirty="0"/>
              <a:t> </a:t>
            </a:r>
            <a:r>
              <a:rPr spc="-10" dirty="0"/>
              <a:t>Review</a:t>
            </a:r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3035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033462" y="9255948"/>
            <a:ext cx="16033115" cy="2540"/>
          </a:xfrm>
          <a:custGeom>
            <a:avLst/>
            <a:gdLst/>
            <a:ahLst/>
            <a:cxnLst/>
            <a:rect l="l" t="t" r="r" b="b"/>
            <a:pathLst>
              <a:path w="16033115" h="2540">
                <a:moveTo>
                  <a:pt x="0" y="2350"/>
                </a:moveTo>
                <a:lnTo>
                  <a:pt x="16032954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509206" y="280768"/>
            <a:ext cx="1500186" cy="1714499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2571551" y="3558183"/>
            <a:ext cx="13145135" cy="2885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5600"/>
              </a:lnSpc>
              <a:spcBef>
                <a:spcPts val="100"/>
              </a:spcBef>
            </a:pPr>
            <a:r>
              <a:rPr lang="en-IN" sz="5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Voice-Based AI Receptionist Agent for Smart College Communication</a:t>
            </a:r>
            <a:br>
              <a:rPr lang="en-IN" sz="5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5400" dirty="0"/>
              <a:t/>
            </a:r>
            <a:br>
              <a:rPr lang="en-IN" sz="5400" dirty="0"/>
            </a:br>
            <a:endParaRPr sz="5000" dirty="0"/>
          </a:p>
        </p:txBody>
      </p:sp>
      <p:sp>
        <p:nvSpPr>
          <p:cNvPr id="5" name="object 5"/>
          <p:cNvSpPr txBox="1"/>
          <p:nvPr/>
        </p:nvSpPr>
        <p:spPr>
          <a:xfrm>
            <a:off x="11353800" y="6852694"/>
            <a:ext cx="5560060" cy="29084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en-US" sz="3000" b="1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lang="en-IN" sz="3000" b="1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FF0000"/>
                </a:solidFill>
                <a:latin typeface="Times New Roman"/>
                <a:cs typeface="Times New Roman"/>
              </a:rPr>
              <a:t>Presented</a:t>
            </a:r>
            <a:r>
              <a:rPr sz="3000" b="1" spc="-13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000" b="1" spc="-25" dirty="0">
                <a:solidFill>
                  <a:srgbClr val="FF0000"/>
                </a:solidFill>
                <a:latin typeface="Times New Roman"/>
                <a:cs typeface="Times New Roman"/>
              </a:rPr>
              <a:t>by</a:t>
            </a:r>
            <a:endParaRPr lang="en-US" sz="3000" b="1" spc="-25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12700">
              <a:spcBef>
                <a:spcPts val="100"/>
              </a:spcBef>
            </a:pPr>
            <a:r>
              <a:rPr lang="en-I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Akash N (</a:t>
            </a:r>
            <a:r>
              <a:rPr lang="en-IN" alt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2116230701019)</a:t>
            </a:r>
          </a:p>
          <a:p>
            <a:pPr marL="12700">
              <a:spcBef>
                <a:spcPts val="100"/>
              </a:spcBef>
            </a:pPr>
            <a:r>
              <a:rPr lang="en-IN" alt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Kamalesh </a:t>
            </a:r>
            <a:r>
              <a:rPr lang="en-I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 P (2116230701138)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endParaRPr sz="3000" dirty="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033835" y="2332758"/>
            <a:ext cx="14220190" cy="6045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800" b="1" spc="-10" dirty="0">
                <a:solidFill>
                  <a:srgbClr val="002060"/>
                </a:solidFill>
                <a:latin typeface="Times New Roman"/>
                <a:cs typeface="Times New Roman"/>
              </a:rPr>
              <a:t>DEPARTMENT</a:t>
            </a:r>
            <a:r>
              <a:rPr sz="3800" b="1" spc="-15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dirty="0">
                <a:solidFill>
                  <a:srgbClr val="002060"/>
                </a:solidFill>
                <a:latin typeface="Times New Roman"/>
                <a:cs typeface="Times New Roman"/>
              </a:rPr>
              <a:t>OF</a:t>
            </a:r>
            <a:r>
              <a:rPr sz="3800" b="1" spc="-15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dirty="0">
                <a:solidFill>
                  <a:srgbClr val="002060"/>
                </a:solidFill>
                <a:latin typeface="Times New Roman"/>
                <a:cs typeface="Times New Roman"/>
              </a:rPr>
              <a:t>COMPUTER</a:t>
            </a:r>
            <a:r>
              <a:rPr sz="3800" b="1" spc="-15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dirty="0">
                <a:solidFill>
                  <a:srgbClr val="002060"/>
                </a:solidFill>
                <a:latin typeface="Times New Roman"/>
                <a:cs typeface="Times New Roman"/>
              </a:rPr>
              <a:t>SCIENCE</a:t>
            </a:r>
            <a:r>
              <a:rPr sz="3800" b="1" spc="-15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dirty="0">
                <a:solidFill>
                  <a:srgbClr val="002060"/>
                </a:solidFill>
                <a:latin typeface="Times New Roman"/>
                <a:cs typeface="Times New Roman"/>
              </a:rPr>
              <a:t>AND</a:t>
            </a:r>
            <a:r>
              <a:rPr sz="3800" b="1" spc="-15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800" b="1" spc="-10" dirty="0">
                <a:solidFill>
                  <a:srgbClr val="002060"/>
                </a:solidFill>
                <a:latin typeface="Times New Roman"/>
                <a:cs typeface="Times New Roman"/>
              </a:rPr>
              <a:t>ENGINEERING</a:t>
            </a:r>
            <a:endParaRPr sz="3800" dirty="0">
              <a:latin typeface="Times New Roman"/>
              <a:cs typeface="Times New Roman"/>
            </a:endParaRPr>
          </a:p>
        </p:txBody>
      </p:sp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6651" y="449437"/>
            <a:ext cx="4263354" cy="1377162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1016000" y="5531820"/>
            <a:ext cx="7518400" cy="42293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SDGs </a:t>
            </a:r>
            <a:r>
              <a:rPr sz="3000" b="1" spc="-10" dirty="0">
                <a:solidFill>
                  <a:srgbClr val="002060"/>
                </a:solidFill>
                <a:latin typeface="Times New Roman"/>
                <a:cs typeface="Times New Roman"/>
              </a:rPr>
              <a:t>Covered</a:t>
            </a:r>
            <a:endParaRPr sz="3000" dirty="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</a:pPr>
            <a:r>
              <a:rPr lang="en-US" sz="3000" b="1" dirty="0" smtClean="0">
                <a:solidFill>
                  <a:srgbClr val="002060"/>
                </a:solidFill>
                <a:latin typeface="Times New Roman"/>
                <a:cs typeface="Times New Roman"/>
              </a:rPr>
              <a:t>SDG 04 - </a:t>
            </a:r>
            <a:r>
              <a:rPr lang="en-US" sz="3000" dirty="0" smtClean="0">
                <a:solidFill>
                  <a:srgbClr val="002060"/>
                </a:solidFill>
                <a:latin typeface="Times New Roman"/>
                <a:cs typeface="Times New Roman"/>
              </a:rPr>
              <a:t>Quality Education</a:t>
            </a:r>
          </a:p>
          <a:p>
            <a:pPr marL="12700" marR="5080">
              <a:lnSpc>
                <a:spcPct val="100000"/>
              </a:lnSpc>
            </a:pPr>
            <a:r>
              <a:rPr sz="3000" b="1" dirty="0" smtClean="0">
                <a:solidFill>
                  <a:srgbClr val="002060"/>
                </a:solidFill>
                <a:latin typeface="Times New Roman"/>
                <a:cs typeface="Times New Roman"/>
              </a:rPr>
              <a:t>SDG</a:t>
            </a:r>
            <a:r>
              <a:rPr sz="3000" b="1" spc="-50" dirty="0" smtClean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lang="en-US" sz="3000" b="1" spc="-50" dirty="0">
                <a:solidFill>
                  <a:srgbClr val="002060"/>
                </a:solidFill>
                <a:latin typeface="Times New Roman"/>
                <a:cs typeface="Times New Roman"/>
              </a:rPr>
              <a:t>0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9</a:t>
            </a:r>
            <a:r>
              <a:rPr sz="3000" b="1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–</a:t>
            </a:r>
            <a:r>
              <a:rPr sz="3000" b="1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spc="-20" dirty="0">
                <a:solidFill>
                  <a:srgbClr val="002060"/>
                </a:solidFill>
                <a:latin typeface="Times New Roman"/>
                <a:cs typeface="Times New Roman"/>
              </a:rPr>
              <a:t>Industry,</a:t>
            </a:r>
            <a:r>
              <a:rPr sz="3000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Innovation</a:t>
            </a:r>
            <a:r>
              <a:rPr sz="3000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and</a:t>
            </a:r>
            <a:r>
              <a:rPr sz="3000" spc="-4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spc="-10" dirty="0">
                <a:solidFill>
                  <a:srgbClr val="002060"/>
                </a:solidFill>
                <a:latin typeface="Times New Roman"/>
                <a:cs typeface="Times New Roman"/>
              </a:rPr>
              <a:t>Infrastructure 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SDG</a:t>
            </a:r>
            <a:r>
              <a:rPr sz="3000" b="1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16</a:t>
            </a:r>
            <a:r>
              <a:rPr sz="3000" b="1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b="1" dirty="0">
                <a:solidFill>
                  <a:srgbClr val="002060"/>
                </a:solidFill>
                <a:latin typeface="Times New Roman"/>
                <a:cs typeface="Times New Roman"/>
              </a:rPr>
              <a:t>–</a:t>
            </a:r>
            <a:r>
              <a:rPr sz="3000" b="1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Peace,</a:t>
            </a:r>
            <a:r>
              <a:rPr sz="3000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Justice</a:t>
            </a:r>
            <a:r>
              <a:rPr sz="3000" spc="-25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and</a:t>
            </a:r>
            <a:r>
              <a:rPr sz="3000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dirty="0">
                <a:solidFill>
                  <a:srgbClr val="002060"/>
                </a:solidFill>
                <a:latin typeface="Times New Roman"/>
                <a:cs typeface="Times New Roman"/>
              </a:rPr>
              <a:t>Strong</a:t>
            </a:r>
            <a:r>
              <a:rPr sz="3000" spc="-30" dirty="0">
                <a:solidFill>
                  <a:srgbClr val="002060"/>
                </a:solidFill>
                <a:latin typeface="Times New Roman"/>
                <a:cs typeface="Times New Roman"/>
              </a:rPr>
              <a:t> </a:t>
            </a:r>
            <a:r>
              <a:rPr sz="3000" spc="-10" dirty="0">
                <a:solidFill>
                  <a:srgbClr val="002060"/>
                </a:solidFill>
                <a:latin typeface="Times New Roman"/>
                <a:cs typeface="Times New Roman"/>
              </a:rPr>
              <a:t>Institutions</a:t>
            </a:r>
            <a:endParaRPr sz="3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endParaRPr lang="en-US" sz="3000" dirty="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3000" b="1" dirty="0">
                <a:solidFill>
                  <a:srgbClr val="FF0000"/>
                </a:solidFill>
                <a:latin typeface="Times New Roman"/>
                <a:cs typeface="Times New Roman"/>
              </a:rPr>
              <a:t>Project</a:t>
            </a:r>
            <a:r>
              <a:rPr sz="3000" b="1" spc="-95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3000" b="1" spc="-10" dirty="0">
                <a:solidFill>
                  <a:srgbClr val="FF0000"/>
                </a:solidFill>
                <a:latin typeface="Times New Roman"/>
                <a:cs typeface="Times New Roman"/>
              </a:rPr>
              <a:t>Supervisor</a:t>
            </a:r>
            <a:endParaRPr lang="en-US" sz="3000" b="1" spc="-10" dirty="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marL="12700"/>
            <a:r>
              <a:rPr lang="en-I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Mr. B. Bhuvaneswaran, </a:t>
            </a:r>
          </a:p>
          <a:p>
            <a:pPr marL="12700"/>
            <a:r>
              <a:rPr lang="en-IN" altLang="en-US" sz="3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 (SG)</a:t>
            </a:r>
          </a:p>
          <a:p>
            <a:pPr marL="12700">
              <a:lnSpc>
                <a:spcPct val="100000"/>
              </a:lnSpc>
            </a:pPr>
            <a:endParaRPr sz="3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314449" y="1660873"/>
            <a:ext cx="9348470" cy="207645"/>
            <a:chOff x="1314449" y="1660873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328737" y="167516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328737" y="167516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1209494"/>
          </a:xfrm>
          <a:prstGeom prst="rect">
            <a:avLst/>
          </a:prstGeom>
        </p:spPr>
        <p:txBody>
          <a:bodyPr vert="horz" wrap="square" lIns="0" tIns="466277" rIns="0" bIns="0" rtlCol="0">
            <a:spAutoFit/>
          </a:bodyPr>
          <a:lstStyle/>
          <a:p>
            <a:pPr marL="217804">
              <a:lnSpc>
                <a:spcPct val="100000"/>
              </a:lnSpc>
              <a:spcBef>
                <a:spcPts val="100"/>
              </a:spcBef>
            </a:pP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1333284" y="2001994"/>
            <a:ext cx="13328015" cy="101053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DOMAIN: </a:t>
            </a:r>
            <a:r>
              <a:rPr lang="en-US" sz="32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Voice AI &amp; Artificial Intelligence</a:t>
            </a:r>
          </a:p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32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: </a:t>
            </a:r>
            <a:r>
              <a:rPr lang="en-US" sz="32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RAG, LLM &amp; Agentic AI</a:t>
            </a:r>
            <a:endParaRPr sz="3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object 30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31" name="object 31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7754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32" name="object 32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spc="-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1328794" y="3132078"/>
            <a:ext cx="5345173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IMPORTANCE OF THE TOPIC</a:t>
            </a:r>
            <a:endParaRPr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xmlns="" id="{A6249379-6305-F356-7F35-42EF965C4392}"/>
              </a:ext>
            </a:extLst>
          </p:cNvPr>
          <p:cNvSpPr txBox="1"/>
          <p:nvPr/>
        </p:nvSpPr>
        <p:spPr>
          <a:xfrm>
            <a:off x="1110580" y="3165532"/>
            <a:ext cx="9065407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Colleges receive many calls about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admissions, courses, fees, placements, facilities, and student services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call handling increases workload and causes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waiting time, inconsistent replies, and limited availability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STT, LLMs, RAG, and TTS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enable intelligent voice communication.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proposed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Voice-Based AI Receptionist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understands queries, retrieves college information, and provides accurate voice responses.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and Agentic AI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support grounded answers, intelligent handling, and human escalation.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xmlns="" id="{994C0A3E-D031-C343-D868-46D799AA31ED}"/>
              </a:ext>
            </a:extLst>
          </p:cNvPr>
          <p:cNvSpPr txBox="1"/>
          <p:nvPr/>
        </p:nvSpPr>
        <p:spPr>
          <a:xfrm>
            <a:off x="10648632" y="3695340"/>
            <a:ext cx="6934201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Automates routine inquiries and reduces receptionist workload.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24×7 access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college information.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Delivers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consistent, knowledge-based responses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caller experience through faster information access.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human escalation and future personalized student services.</a:t>
            </a:r>
          </a:p>
          <a:p>
            <a:pPr lvl="0"/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64431" y="1518801"/>
            <a:ext cx="9348470" cy="207645"/>
            <a:chOff x="1164431" y="1518801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178718" y="153308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178718" y="153308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1195344"/>
          </a:xfrm>
          <a:prstGeom prst="rect">
            <a:avLst/>
          </a:prstGeom>
        </p:spPr>
        <p:txBody>
          <a:bodyPr vert="horz" wrap="square" lIns="0" tIns="45226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  <a:r>
              <a:rPr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OBJECTIVES/SCOPE</a:t>
            </a:r>
          </a:p>
        </p:txBody>
      </p:sp>
      <p:sp>
        <p:nvSpPr>
          <p:cNvPr id="20" name="object 20"/>
          <p:cNvSpPr txBox="1">
            <a:spLocks noGrp="1"/>
          </p:cNvSpPr>
          <p:nvPr>
            <p:ph sz="half" idx="3"/>
          </p:nvPr>
        </p:nvSpPr>
        <p:spPr>
          <a:xfrm>
            <a:off x="10058400" y="2044843"/>
            <a:ext cx="7848600" cy="831509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ts val="3329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 routine college inquiries.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accurate and consistent responses.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Offer 24×7 institutional information.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receptionist workload and waiting time.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intelligent escalation for unresolved queries.</a:t>
            </a:r>
            <a:endParaRPr lang="en-IN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Support secure personalized student services in Phase 2.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scope includes voice-based inquiry handling, STT, RAG-based information retrieval, LLM response generation, TTS, multi-turn interaction, and human call escalation. Phase 2 extends the system to authenticated student queries such as attendance, marks, fee status, and placement eligibility.</a:t>
            </a:r>
            <a:endParaRPr lang="en-IN" sz="2600" b="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endParaRPr lang="en-IN" sz="2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endParaRPr lang="en-IN" sz="26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sz="2600" b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2" name="object 22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23" name="object 23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699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24" name="object 24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spc="-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1110581" y="1904421"/>
            <a:ext cx="8661594" cy="7866897"/>
          </a:xfrm>
          <a:prstGeom prst="rect">
            <a:avLst/>
          </a:prstGeom>
        </p:spPr>
        <p:txBody>
          <a:bodyPr vert="horz" wrap="square" lIns="0" tIns="1860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65"/>
              </a:spcBef>
            </a:pP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</a:t>
            </a:r>
            <a:r>
              <a:rPr sz="2800" b="1" spc="-14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OVERVIEW</a:t>
            </a:r>
            <a:endParaRPr lang="en-US" sz="2800" b="1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IN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Develops a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Voice-Based AI Receptionist Agent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smart college communication.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Automatically handles telephone inquiries related to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admissions, departments, facilities, placements, events, and academic information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Speech-to-Text (STT)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understand the caller's spoken queries.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 and an LLM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retrieve relevant institutional information and generate grounded responses.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Text-to-Speech (TTS)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deliver responses naturally to the caller.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US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multi-turn conversations and provides a planned human escalation mechanism for unresolved queries.</a:t>
            </a:r>
            <a:endParaRPr lang="en-US" sz="2800" b="1" spc="-1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>
              <a:lnSpc>
                <a:spcPct val="100000"/>
              </a:lnSpc>
              <a:spcBef>
                <a:spcPts val="1465"/>
              </a:spcBef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32509" y="1684625"/>
            <a:ext cx="9348470" cy="207645"/>
            <a:chOff x="1032509" y="1684625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046797" y="1698912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046797" y="1698912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17748" rIns="0" bIns="0" rtlCol="0">
            <a:spAutoFit/>
          </a:bodyPr>
          <a:lstStyle/>
          <a:p>
            <a:pPr marL="4953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STATEMENT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1053732" y="3774495"/>
            <a:ext cx="9621203" cy="5252720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340"/>
              </a:spcBef>
            </a:pP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sz="28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Problems</a:t>
            </a:r>
            <a:endParaRPr lang="en-US" sz="2800" b="1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Volume of Routine Inquiries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Reception staff repeatedly handle similar queries. </a:t>
            </a: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Availability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Assistance is restricted to working hours and staff availability. </a:t>
            </a: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Delayed Responses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Callers may experience waiting time during busy periods. </a:t>
            </a: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Inconsistent Information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Responses may vary depending on the staff member or available information. </a:t>
            </a:r>
          </a:p>
          <a:p>
            <a:pPr lvl="0" algn="just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Difficulty Handling Complex Queries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Some queries require information retrieval or human assistance.</a:t>
            </a:r>
          </a:p>
          <a:p>
            <a:pPr marL="12700">
              <a:lnSpc>
                <a:spcPct val="100000"/>
              </a:lnSpc>
              <a:spcBef>
                <a:spcPts val="340"/>
              </a:spcBef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1201400" y="3874607"/>
            <a:ext cx="6014953" cy="51809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3329"/>
              </a:lnSpc>
              <a:spcBef>
                <a:spcPts val="100"/>
              </a:spcBef>
            </a:pP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</a:t>
            </a:r>
            <a:r>
              <a:rPr sz="280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</a:t>
            </a:r>
            <a:r>
              <a:rPr sz="28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</a:t>
            </a:r>
            <a:r>
              <a:rPr sz="2800" b="1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8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Important?</a:t>
            </a:r>
            <a:endParaRPr lang="en-US" sz="2800" b="1" spc="-1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Reduces the workload of reception staff.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 and consistent information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callers.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accessibility through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24×7 </a:t>
            </a:r>
            <a:r>
              <a:rPr lang="en-IN" sz="2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 voice availability</a:t>
            </a:r>
            <a:r>
              <a:rPr lang="en-I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Improves student and parent communication.</a:t>
            </a:r>
          </a:p>
          <a:p>
            <a:pPr marL="457200" lvl="0" indent="-457200" algn="just">
              <a:buFont typeface="Arial" panose="020B0604020202020204" pitchFamily="34" charset="0"/>
              <a:buChar char="•"/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Enables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handling with human escalation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when required.</a:t>
            </a:r>
          </a:p>
          <a:p>
            <a:pPr marL="12700">
              <a:lnSpc>
                <a:spcPts val="3329"/>
              </a:lnSpc>
              <a:spcBef>
                <a:spcPts val="100"/>
              </a:spcBef>
            </a:pP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699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spc="-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046797" y="2016545"/>
            <a:ext cx="16325533" cy="1726113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2700" marR="5080" algn="just">
              <a:lnSpc>
                <a:spcPts val="3300"/>
              </a:lnSpc>
              <a:spcBef>
                <a:spcPts val="259"/>
              </a:spcBef>
            </a:pP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Educational institutions receive a high volume of telephone inquiries about admissions, departments, fees, hostel facilities, placements, and academic information. However, the college currently lacks an automated voice system that can understand natural-language queries and provide accurate, context-grounded responses from institutional information.</a:t>
            </a:r>
            <a:endParaRPr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57400" y="493928"/>
            <a:ext cx="7005107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EXISTING</a:t>
            </a:r>
            <a:r>
              <a:rPr sz="3500" b="1" spc="-114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SYSTEMS</a:t>
            </a:r>
            <a:r>
              <a:rPr sz="3500" b="1" spc="-1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sz="3500" b="1" spc="-1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500" b="1" spc="-1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OUR’S</a:t>
            </a:r>
            <a:endParaRPr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bject 5" descr="$PPTXTitle"/>
          <p:cNvSpPr txBox="1">
            <a:spLocks noGrp="1"/>
          </p:cNvSpPr>
          <p:nvPr>
            <p:ph type="title"/>
          </p:nvPr>
        </p:nvSpPr>
        <p:spPr>
          <a:xfrm>
            <a:off x="10605899" y="521016"/>
            <a:ext cx="6460837" cy="504624"/>
          </a:xfrm>
          <a:prstGeom prst="rect">
            <a:avLst/>
          </a:prstGeom>
        </p:spPr>
        <p:txBody>
          <a:bodyPr vert="horz" wrap="square" lIns="0" tIns="29844" rIns="0" bIns="0" rtlCol="0">
            <a:spAutoFit/>
          </a:bodyPr>
          <a:lstStyle/>
          <a:p>
            <a:pPr marL="1822450" marR="5080" indent="-1810385">
              <a:lnSpc>
                <a:spcPts val="3679"/>
              </a:lnSpc>
              <a:spcBef>
                <a:spcPts val="234"/>
              </a:spcBef>
            </a:pPr>
            <a:r>
              <a:rPr sz="3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REALTIME</a:t>
            </a:r>
            <a:r>
              <a:rPr sz="3100" spc="-5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1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FACED</a:t>
            </a:r>
            <a:endParaRPr sz="3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210800" y="1191260"/>
            <a:ext cx="7756237" cy="765465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 Recognition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accents and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Tamil-English code-mixed speech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Low-Latency Processing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fast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STT → RAG → LLM → TTS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responses.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Accurate RAG Retrieval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Retrieving the correct information from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websites and PDFs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Response Grounding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Preventing hallucinations and unsupported answers.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Conversation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Maintaining context during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multi-turn calls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Telephony Integration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Managing live audio streaming and reliable call handling.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 Escalation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Transferring unresolved or sensitive queries smoothly.</a:t>
            </a:r>
          </a:p>
          <a:p>
            <a:pPr marL="12700" marR="365125">
              <a:lnSpc>
                <a:spcPts val="3090"/>
              </a:lnSpc>
              <a:spcBef>
                <a:spcPts val="229"/>
              </a:spcBef>
            </a:pPr>
            <a:endParaRPr lang="en-US" sz="2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6230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4" name="object 14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57480">
              <a:lnSpc>
                <a:spcPct val="100000"/>
              </a:lnSpc>
              <a:spcBef>
                <a:spcPts val="110"/>
              </a:spcBef>
            </a:pPr>
            <a:fld id="{81D60167-4931-47E6-BA6A-407CBD079E47}" type="slidenum">
              <a:rPr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spc="-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6361D7DE-8286-DB16-5E94-15940A057A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010" y="1265195"/>
            <a:ext cx="8063194" cy="755885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418321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6493767" y="306089"/>
            <a:ext cx="507238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1297940" y="9381807"/>
            <a:ext cx="142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7344280" y="9418321"/>
            <a:ext cx="4851639" cy="297516"/>
          </a:xfrm>
          <a:prstGeom prst="rect">
            <a:avLst/>
          </a:prstGeom>
        </p:spPr>
        <p:txBody>
          <a:bodyPr vert="horz" wrap="square" lIns="0" tIns="2793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19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16819224" y="9381807"/>
            <a:ext cx="1708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1049008" y="5052570"/>
            <a:ext cx="6461125" cy="2282676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120"/>
              </a:spcBef>
            </a:pPr>
            <a:r>
              <a:rPr lang="en-US" sz="2400" b="1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COLLEGE KNOWLEDGE BASE</a:t>
            </a:r>
            <a:r>
              <a:rPr sz="2250" b="1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:</a:t>
            </a:r>
            <a:endParaRPr lang="en-US" sz="2250" b="1" spc="229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55600" marR="5080" indent="-342900" algn="l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REC 2023 UG Regulations</a:t>
            </a:r>
          </a:p>
          <a:p>
            <a:pPr marL="355600" marR="5080" indent="-342900" algn="l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R2023 CSE Curriculum &amp; Syllabus</a:t>
            </a:r>
          </a:p>
          <a:p>
            <a:pPr marL="355600" marR="5080" indent="-342900" algn="l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2400" spc="229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Certificate for Medium of Instruction</a:t>
            </a:r>
          </a:p>
          <a:p>
            <a:pPr marL="355600" marR="5080" indent="-342900" algn="l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2400" spc="229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Certificate for CGPA to Percentage Conversion</a:t>
            </a:r>
            <a:endParaRPr lang="en-US" sz="2250" spc="229" dirty="0" smtClean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1084061" y="7418761"/>
            <a:ext cx="6461125" cy="151836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20"/>
              </a:spcBef>
              <a:tabLst>
                <a:tab pos="1043940" algn="l"/>
                <a:tab pos="1819275" algn="l"/>
                <a:tab pos="2312035" algn="l"/>
                <a:tab pos="3479800" algn="l"/>
                <a:tab pos="3845560" algn="l"/>
                <a:tab pos="4674870" algn="l"/>
                <a:tab pos="4945380" algn="l"/>
                <a:tab pos="5354955" algn="l"/>
              </a:tabLst>
            </a:pPr>
            <a:r>
              <a:rPr lang="en-US" sz="2400" b="1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VECTOR CORPUS</a:t>
            </a:r>
            <a:r>
              <a:rPr sz="2250" b="1" spc="-1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:</a:t>
            </a:r>
            <a:r>
              <a:rPr sz="2250" dirty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		</a:t>
            </a:r>
            <a:endParaRPr lang="en-US" sz="2250" dirty="0" smtClean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55600" marR="5080" indent="-342900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  <a:tabLst>
                <a:tab pos="1043940" algn="l"/>
                <a:tab pos="1819275" algn="l"/>
                <a:tab pos="2312035" algn="l"/>
                <a:tab pos="3479800" algn="l"/>
                <a:tab pos="3845560" algn="l"/>
                <a:tab pos="4674870" algn="l"/>
                <a:tab pos="4945380" algn="l"/>
                <a:tab pos="5354955" algn="l"/>
              </a:tabLst>
            </a:pP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686 indexed chunks</a:t>
            </a:r>
          </a:p>
          <a:p>
            <a:pPr marL="355600" marR="5080" indent="-342900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  <a:tabLst>
                <a:tab pos="1043940" algn="l"/>
                <a:tab pos="1819275" algn="l"/>
                <a:tab pos="2312035" algn="l"/>
                <a:tab pos="3479800" algn="l"/>
                <a:tab pos="3845560" algn="l"/>
                <a:tab pos="4674870" algn="l"/>
                <a:tab pos="4945380" algn="l"/>
                <a:tab pos="5354955" algn="l"/>
              </a:tabLst>
            </a:pP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Sentence-Transformers </a:t>
            </a:r>
            <a:r>
              <a:rPr lang="en-US" sz="2400" dirty="0" err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embeddings</a:t>
            </a:r>
            <a:endParaRPr lang="en-US" sz="240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  <a:p>
            <a:pPr marL="355600" marR="5080" indent="-342900">
              <a:lnSpc>
                <a:spcPct val="100000"/>
              </a:lnSpc>
              <a:spcBef>
                <a:spcPts val="120"/>
              </a:spcBef>
              <a:buFont typeface="Arial" panose="020B0604020202020204" pitchFamily="34" charset="0"/>
              <a:buChar char="•"/>
              <a:tabLst>
                <a:tab pos="1043940" algn="l"/>
                <a:tab pos="1819275" algn="l"/>
                <a:tab pos="2312035" algn="l"/>
                <a:tab pos="3479800" algn="l"/>
                <a:tab pos="3845560" algn="l"/>
                <a:tab pos="4674870" algn="l"/>
                <a:tab pos="4945380" algn="l"/>
                <a:tab pos="5354955" algn="l"/>
              </a:tabLst>
            </a:pPr>
            <a:r>
              <a:rPr lang="en-US" sz="2400" dirty="0" err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ChromaDB</a:t>
            </a:r>
            <a:r>
              <a:rPr lang="en-US" sz="2400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 vector store</a:t>
            </a:r>
            <a:endParaRPr sz="2250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838200" y="1279058"/>
            <a:ext cx="8207165" cy="44820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en-IN" sz="28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Listen. Retrieve. Respond. Escalate intelligently</a:t>
            </a:r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26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710539" y="1750547"/>
            <a:ext cx="9036421" cy="6308778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Gather college website content, PDFs, circulars, handbooks, and academic information.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Process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Clean and chunk the collected content with relevant source metadata.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Retrieve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Convert chunks into embeddings and store them in </a:t>
            </a:r>
            <a:r>
              <a:rPr lang="en-IN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RAG retrieval.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Convert caller speech into text using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Speech-to-Text (STT)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Retrieve relevant knowledge and use the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generate a grounded response.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Respond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Convert the response into natural speech using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Text-to-Speech (TTS)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Continue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 conversation history for </a:t>
            </a: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multi-turn interactions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Escalate →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Identify</a:t>
            </a: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unresolved or human-required queries </a:t>
            </a:r>
            <a:r>
              <a:rPr lang="en-US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planned receptionist transfer.</a:t>
            </a:r>
            <a:endParaRPr lang="en-I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 marR="5080">
              <a:lnSpc>
                <a:spcPts val="2730"/>
              </a:lnSpc>
              <a:spcBef>
                <a:spcPts val="215"/>
              </a:spcBef>
              <a:tabLst>
                <a:tab pos="346075" algn="l"/>
              </a:tabLst>
            </a:pPr>
            <a:endParaRPr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33399" y="7697350"/>
            <a:ext cx="9312275" cy="112017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algn="just">
              <a:lnSpc>
                <a:spcPct val="100000"/>
              </a:lnSpc>
              <a:spcBef>
                <a:spcPts val="95"/>
              </a:spcBef>
            </a:pPr>
            <a:r>
              <a:rPr lang="en-US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Caller speaks → Speech is converted to text → Relevant knowledge is retrieved → Grounded response is generated → Response is converted to speech → Caller receives answer → Escalation identified if required</a:t>
            </a:r>
            <a:endParaRPr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0339378" y="1526443"/>
            <a:ext cx="523220" cy="3018155"/>
          </a:xfrm>
          <a:prstGeom prst="rect">
            <a:avLst/>
          </a:prstGeom>
        </p:spPr>
        <p:txBody>
          <a:bodyPr vert="vert270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3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</a:t>
            </a:r>
            <a:r>
              <a:rPr sz="3400" b="1" spc="-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3400" b="1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endParaRPr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10339378" y="4837396"/>
            <a:ext cx="523220" cy="4003269"/>
          </a:xfrm>
          <a:prstGeom prst="rect">
            <a:avLst/>
          </a:prstGeom>
        </p:spPr>
        <p:txBody>
          <a:bodyPr vert="vert270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lang="en-US" sz="3400" b="1" dirty="0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t>DATA SOURCES</a:t>
            </a:r>
            <a:endParaRPr sz="3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10152967" y="1574731"/>
            <a:ext cx="0" cy="7230109"/>
          </a:xfrm>
          <a:custGeom>
            <a:avLst/>
            <a:gdLst/>
            <a:ahLst/>
            <a:cxnLst/>
            <a:rect l="l" t="t" r="r" b="b"/>
            <a:pathLst>
              <a:path h="7230109">
                <a:moveTo>
                  <a:pt x="0" y="0"/>
                </a:moveTo>
                <a:lnTo>
                  <a:pt x="0" y="7230090"/>
                </a:lnTo>
              </a:path>
            </a:pathLst>
          </a:custGeom>
          <a:ln w="38099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6333" y="1345090"/>
            <a:ext cx="6385747" cy="349230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64400" y="3965675"/>
            <a:ext cx="4174490" cy="1235075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 marR="5080" indent="966469">
              <a:lnSpc>
                <a:spcPts val="4730"/>
              </a:lnSpc>
              <a:spcBef>
                <a:spcPts val="265"/>
              </a:spcBef>
            </a:pPr>
            <a:r>
              <a:rPr sz="40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ARCHITECTURE</a:t>
            </a:r>
            <a:endParaRPr sz="4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5090160" y="576556"/>
            <a:ext cx="12483465" cy="8322309"/>
            <a:chOff x="5090160" y="576556"/>
            <a:chExt cx="12483465" cy="8322309"/>
          </a:xfrm>
        </p:grpSpPr>
        <p:pic>
          <p:nvPicPr>
            <p:cNvPr id="5" name="object 5"/>
            <p:cNvPicPr/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07305" y="587986"/>
              <a:ext cx="12449014" cy="829934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5090160" y="576556"/>
              <a:ext cx="12483465" cy="8322309"/>
            </a:xfrm>
            <a:custGeom>
              <a:avLst/>
              <a:gdLst/>
              <a:ahLst/>
              <a:cxnLst/>
              <a:rect l="l" t="t" r="r" b="b"/>
              <a:pathLst>
                <a:path w="12483465" h="8322309">
                  <a:moveTo>
                    <a:pt x="0" y="0"/>
                  </a:moveTo>
                  <a:lnTo>
                    <a:pt x="0" y="8322170"/>
                  </a:lnTo>
                  <a:lnTo>
                    <a:pt x="12483255" y="8322170"/>
                  </a:lnTo>
                  <a:lnTo>
                    <a:pt x="12483255" y="0"/>
                  </a:lnTo>
                  <a:lnTo>
                    <a:pt x="0" y="0"/>
                  </a:lnTo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7" name="object 7"/>
          <p:cNvSpPr/>
          <p:nvPr/>
        </p:nvSpPr>
        <p:spPr>
          <a:xfrm>
            <a:off x="2738297" y="5508218"/>
            <a:ext cx="1924050" cy="2273935"/>
          </a:xfrm>
          <a:custGeom>
            <a:avLst/>
            <a:gdLst/>
            <a:ahLst/>
            <a:cxnLst/>
            <a:rect l="l" t="t" r="r" b="b"/>
            <a:pathLst>
              <a:path w="1924050" h="2273934">
                <a:moveTo>
                  <a:pt x="1923554" y="2042731"/>
                </a:moveTo>
                <a:lnTo>
                  <a:pt x="1577441" y="1935492"/>
                </a:lnTo>
                <a:lnTo>
                  <a:pt x="1573441" y="1934425"/>
                </a:lnTo>
                <a:lnTo>
                  <a:pt x="1540649" y="1954047"/>
                </a:lnTo>
                <a:lnTo>
                  <a:pt x="1538605" y="1966175"/>
                </a:lnTo>
                <a:lnTo>
                  <a:pt x="1539989" y="1974342"/>
                </a:lnTo>
                <a:lnTo>
                  <a:pt x="1563306" y="1995195"/>
                </a:lnTo>
                <a:lnTo>
                  <a:pt x="1759318" y="2041626"/>
                </a:lnTo>
                <a:lnTo>
                  <a:pt x="1696567" y="2052459"/>
                </a:lnTo>
                <a:lnTo>
                  <a:pt x="1637842" y="2060282"/>
                </a:lnTo>
                <a:lnTo>
                  <a:pt x="1572971" y="2065909"/>
                </a:lnTo>
                <a:lnTo>
                  <a:pt x="1502283" y="2068156"/>
                </a:lnTo>
                <a:lnTo>
                  <a:pt x="1464868" y="2067648"/>
                </a:lnTo>
                <a:lnTo>
                  <a:pt x="1426133" y="2065870"/>
                </a:lnTo>
                <a:lnTo>
                  <a:pt x="1386116" y="2062645"/>
                </a:lnTo>
                <a:lnTo>
                  <a:pt x="1344853" y="2057857"/>
                </a:lnTo>
                <a:lnTo>
                  <a:pt x="1302410" y="2051342"/>
                </a:lnTo>
                <a:lnTo>
                  <a:pt x="1258798" y="2042972"/>
                </a:lnTo>
                <a:lnTo>
                  <a:pt x="1214094" y="2032571"/>
                </a:lnTo>
                <a:lnTo>
                  <a:pt x="1168311" y="2020023"/>
                </a:lnTo>
                <a:lnTo>
                  <a:pt x="1121498" y="2005164"/>
                </a:lnTo>
                <a:lnTo>
                  <a:pt x="1073721" y="1987854"/>
                </a:lnTo>
                <a:lnTo>
                  <a:pt x="1024991" y="1967941"/>
                </a:lnTo>
                <a:lnTo>
                  <a:pt x="975385" y="1945284"/>
                </a:lnTo>
                <a:lnTo>
                  <a:pt x="924915" y="1919744"/>
                </a:lnTo>
                <a:lnTo>
                  <a:pt x="873633" y="1891157"/>
                </a:lnTo>
                <a:lnTo>
                  <a:pt x="821588" y="1859394"/>
                </a:lnTo>
                <a:lnTo>
                  <a:pt x="768819" y="1824291"/>
                </a:lnTo>
                <a:lnTo>
                  <a:pt x="715365" y="1785721"/>
                </a:lnTo>
                <a:lnTo>
                  <a:pt x="661276" y="1743519"/>
                </a:lnTo>
                <a:lnTo>
                  <a:pt x="606590" y="1697558"/>
                </a:lnTo>
                <a:lnTo>
                  <a:pt x="551357" y="1647672"/>
                </a:lnTo>
                <a:lnTo>
                  <a:pt x="495617" y="1593735"/>
                </a:lnTo>
                <a:lnTo>
                  <a:pt x="439407" y="1535582"/>
                </a:lnTo>
                <a:lnTo>
                  <a:pt x="387172" y="1477098"/>
                </a:lnTo>
                <a:lnTo>
                  <a:pt x="339610" y="1418488"/>
                </a:lnTo>
                <a:lnTo>
                  <a:pt x="296545" y="1359827"/>
                </a:lnTo>
                <a:lnTo>
                  <a:pt x="257784" y="1301242"/>
                </a:lnTo>
                <a:lnTo>
                  <a:pt x="223151" y="1242796"/>
                </a:lnTo>
                <a:lnTo>
                  <a:pt x="192455" y="1184617"/>
                </a:lnTo>
                <a:lnTo>
                  <a:pt x="165519" y="1126782"/>
                </a:lnTo>
                <a:lnTo>
                  <a:pt x="142151" y="1069403"/>
                </a:lnTo>
                <a:lnTo>
                  <a:pt x="122161" y="1012571"/>
                </a:lnTo>
                <a:lnTo>
                  <a:pt x="105397" y="956386"/>
                </a:lnTo>
                <a:lnTo>
                  <a:pt x="91643" y="900938"/>
                </a:lnTo>
                <a:lnTo>
                  <a:pt x="80733" y="846328"/>
                </a:lnTo>
                <a:lnTo>
                  <a:pt x="72478" y="792657"/>
                </a:lnTo>
                <a:lnTo>
                  <a:pt x="66700" y="740016"/>
                </a:lnTo>
                <a:lnTo>
                  <a:pt x="63195" y="688517"/>
                </a:lnTo>
                <a:lnTo>
                  <a:pt x="61810" y="638238"/>
                </a:lnTo>
                <a:lnTo>
                  <a:pt x="62344" y="589280"/>
                </a:lnTo>
                <a:lnTo>
                  <a:pt x="64617" y="541756"/>
                </a:lnTo>
                <a:lnTo>
                  <a:pt x="68440" y="495744"/>
                </a:lnTo>
                <a:lnTo>
                  <a:pt x="73647" y="451345"/>
                </a:lnTo>
                <a:lnTo>
                  <a:pt x="80035" y="408673"/>
                </a:lnTo>
                <a:lnTo>
                  <a:pt x="87426" y="367817"/>
                </a:lnTo>
                <a:lnTo>
                  <a:pt x="95643" y="328853"/>
                </a:lnTo>
                <a:lnTo>
                  <a:pt x="113804" y="257073"/>
                </a:lnTo>
                <a:lnTo>
                  <a:pt x="133045" y="194094"/>
                </a:lnTo>
                <a:lnTo>
                  <a:pt x="151917" y="140703"/>
                </a:lnTo>
                <a:lnTo>
                  <a:pt x="168935" y="97688"/>
                </a:lnTo>
                <a:lnTo>
                  <a:pt x="191554" y="45859"/>
                </a:lnTo>
                <a:lnTo>
                  <a:pt x="193751" y="40601"/>
                </a:lnTo>
                <a:lnTo>
                  <a:pt x="195021" y="36817"/>
                </a:lnTo>
                <a:lnTo>
                  <a:pt x="195541" y="32943"/>
                </a:lnTo>
                <a:lnTo>
                  <a:pt x="195072" y="24993"/>
                </a:lnTo>
                <a:lnTo>
                  <a:pt x="167830" y="0"/>
                </a:lnTo>
                <a:lnTo>
                  <a:pt x="159854" y="215"/>
                </a:lnTo>
                <a:lnTo>
                  <a:pt x="136283" y="19126"/>
                </a:lnTo>
                <a:lnTo>
                  <a:pt x="134150" y="24231"/>
                </a:lnTo>
                <a:lnTo>
                  <a:pt x="112623" y="73571"/>
                </a:lnTo>
                <a:lnTo>
                  <a:pt x="96329" y="114376"/>
                </a:lnTo>
                <a:lnTo>
                  <a:pt x="78066" y="164998"/>
                </a:lnTo>
                <a:lnTo>
                  <a:pt x="59143" y="224777"/>
                </a:lnTo>
                <a:lnTo>
                  <a:pt x="40855" y="293001"/>
                </a:lnTo>
                <a:lnTo>
                  <a:pt x="24498" y="368985"/>
                </a:lnTo>
                <a:lnTo>
                  <a:pt x="17449" y="409663"/>
                </a:lnTo>
                <a:lnTo>
                  <a:pt x="11379" y="452043"/>
                </a:lnTo>
                <a:lnTo>
                  <a:pt x="6426" y="495998"/>
                </a:lnTo>
                <a:lnTo>
                  <a:pt x="2768" y="541477"/>
                </a:lnTo>
                <a:lnTo>
                  <a:pt x="571" y="588365"/>
                </a:lnTo>
                <a:lnTo>
                  <a:pt x="0" y="636600"/>
                </a:lnTo>
                <a:lnTo>
                  <a:pt x="1193" y="686079"/>
                </a:lnTo>
                <a:lnTo>
                  <a:pt x="4330" y="736727"/>
                </a:lnTo>
                <a:lnTo>
                  <a:pt x="9588" y="788454"/>
                </a:lnTo>
                <a:lnTo>
                  <a:pt x="17094" y="841171"/>
                </a:lnTo>
                <a:lnTo>
                  <a:pt x="27038" y="894791"/>
                </a:lnTo>
                <a:lnTo>
                  <a:pt x="39573" y="949236"/>
                </a:lnTo>
                <a:lnTo>
                  <a:pt x="54851" y="1004404"/>
                </a:lnTo>
                <a:lnTo>
                  <a:pt x="73050" y="1060234"/>
                </a:lnTo>
                <a:lnTo>
                  <a:pt x="94335" y="1116609"/>
                </a:lnTo>
                <a:lnTo>
                  <a:pt x="118846" y="1173467"/>
                </a:lnTo>
                <a:lnTo>
                  <a:pt x="146773" y="1230706"/>
                </a:lnTo>
                <a:lnTo>
                  <a:pt x="178257" y="1288249"/>
                </a:lnTo>
                <a:lnTo>
                  <a:pt x="213461" y="1346009"/>
                </a:lnTo>
                <a:lnTo>
                  <a:pt x="252552" y="1403896"/>
                </a:lnTo>
                <a:lnTo>
                  <a:pt x="295706" y="1461833"/>
                </a:lnTo>
                <a:lnTo>
                  <a:pt x="343065" y="1519720"/>
                </a:lnTo>
                <a:lnTo>
                  <a:pt x="394792" y="1577479"/>
                </a:lnTo>
                <a:lnTo>
                  <a:pt x="451573" y="1636280"/>
                </a:lnTo>
                <a:lnTo>
                  <a:pt x="507898" y="1690954"/>
                </a:lnTo>
                <a:lnTo>
                  <a:pt x="563727" y="1741627"/>
                </a:lnTo>
                <a:lnTo>
                  <a:pt x="619023" y="1788439"/>
                </a:lnTo>
                <a:lnTo>
                  <a:pt x="673747" y="1831530"/>
                </a:lnTo>
                <a:lnTo>
                  <a:pt x="727849" y="1871052"/>
                </a:lnTo>
                <a:lnTo>
                  <a:pt x="781291" y="1907120"/>
                </a:lnTo>
                <a:lnTo>
                  <a:pt x="834034" y="1939886"/>
                </a:lnTo>
                <a:lnTo>
                  <a:pt x="886028" y="1969490"/>
                </a:lnTo>
                <a:lnTo>
                  <a:pt x="937247" y="1996084"/>
                </a:lnTo>
                <a:lnTo>
                  <a:pt x="987640" y="2019795"/>
                </a:lnTo>
                <a:lnTo>
                  <a:pt x="1037170" y="2040750"/>
                </a:lnTo>
                <a:lnTo>
                  <a:pt x="1085799" y="2059114"/>
                </a:lnTo>
                <a:lnTo>
                  <a:pt x="1133475" y="2075014"/>
                </a:lnTo>
                <a:lnTo>
                  <a:pt x="1180172" y="2088603"/>
                </a:lnTo>
                <a:lnTo>
                  <a:pt x="1225842" y="2099995"/>
                </a:lnTo>
                <a:lnTo>
                  <a:pt x="1270431" y="2109343"/>
                </a:lnTo>
                <a:lnTo>
                  <a:pt x="1313916" y="2116798"/>
                </a:lnTo>
                <a:lnTo>
                  <a:pt x="1356245" y="2122487"/>
                </a:lnTo>
                <a:lnTo>
                  <a:pt x="1397393" y="2126551"/>
                </a:lnTo>
                <a:lnTo>
                  <a:pt x="1437297" y="2129129"/>
                </a:lnTo>
                <a:lnTo>
                  <a:pt x="1475930" y="2130374"/>
                </a:lnTo>
                <a:lnTo>
                  <a:pt x="1513243" y="2130412"/>
                </a:lnTo>
                <a:lnTo>
                  <a:pt x="1549209" y="2129383"/>
                </a:lnTo>
                <a:lnTo>
                  <a:pt x="1616900" y="2124684"/>
                </a:lnTo>
                <a:lnTo>
                  <a:pt x="1678660" y="2117420"/>
                </a:lnTo>
                <a:lnTo>
                  <a:pt x="1723669" y="2110448"/>
                </a:lnTo>
                <a:lnTo>
                  <a:pt x="1553184" y="2216734"/>
                </a:lnTo>
                <a:lnTo>
                  <a:pt x="1538833" y="2243721"/>
                </a:lnTo>
                <a:lnTo>
                  <a:pt x="1540192" y="2251672"/>
                </a:lnTo>
                <a:lnTo>
                  <a:pt x="1570532" y="2273503"/>
                </a:lnTo>
                <a:lnTo>
                  <a:pt x="1578508" y="2272258"/>
                </a:lnTo>
                <a:lnTo>
                  <a:pt x="1913026" y="2064804"/>
                </a:lnTo>
                <a:lnTo>
                  <a:pt x="1922780" y="2048598"/>
                </a:lnTo>
                <a:lnTo>
                  <a:pt x="1923554" y="2042731"/>
                </a:lnTo>
                <a:close/>
              </a:path>
            </a:pathLst>
          </a:custGeom>
          <a:solidFill>
            <a:srgbClr val="CC0000"/>
          </a:solidFill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297940" y="9381807"/>
            <a:ext cx="142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959361" y="9381807"/>
            <a:ext cx="5994639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8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spc="-1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6819224" y="9381807"/>
            <a:ext cx="1708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542922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781119"/>
          </a:xfrm>
          <a:prstGeom prst="rect">
            <a:avLst/>
          </a:prstGeom>
        </p:spPr>
        <p:txBody>
          <a:bodyPr vert="horz" wrap="square" lIns="0" tIns="163965" rIns="0" bIns="0" rtlCol="0">
            <a:spAutoFit/>
          </a:bodyPr>
          <a:lstStyle/>
          <a:p>
            <a:pPr marL="1626235">
              <a:lnSpc>
                <a:spcPct val="100000"/>
              </a:lnSpc>
              <a:spcBef>
                <a:spcPts val="100"/>
              </a:spcBef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NOVELTY</a:t>
            </a:r>
            <a:r>
              <a:rPr sz="40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sz="40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</a:t>
            </a:r>
            <a:r>
              <a:rPr sz="40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INNOVATIONS</a:t>
            </a:r>
            <a:r>
              <a:rPr sz="40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299844" y="9632314"/>
            <a:ext cx="14230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z="1800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959361" y="9524682"/>
            <a:ext cx="6147039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z="1800"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z="18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en-US" sz="1800" spc="-25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spc="-1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  <a:endParaRPr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819224" y="9562782"/>
            <a:ext cx="1708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8077203" y="2741984"/>
            <a:ext cx="9189507" cy="5954835"/>
          </a:xfrm>
          <a:prstGeom prst="rect">
            <a:avLst/>
          </a:prstGeom>
        </p:spPr>
        <p:txBody>
          <a:bodyPr vert="horz" wrap="square" lIns="0" tIns="95885" rIns="0" bIns="0" rtlCol="0">
            <a:spAutoFit/>
          </a:bodyPr>
          <a:lstStyle/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Voice AI: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Handles caller speech through </a:t>
            </a:r>
            <a:r>
              <a:rPr lang="en-IN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MicroSIP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PJSIP → Asterisk → </a:t>
            </a:r>
            <a:r>
              <a:rPr lang="en-IN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AudioSocket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RAG-Based Responses: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Retrieves relevant curriculum/document chunks from </a:t>
            </a:r>
            <a:r>
              <a:rPr lang="en-IN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before generating answers.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Local Speech Recognition: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</a:t>
            </a: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Faster-Whisper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efficient speech-to-text processing.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Context-Grounded LLM: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sz="2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Ollama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generates answers using retrieved institutional information.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IN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Multi-Turn Interaction:</a:t>
            </a:r>
            <a:r>
              <a:rPr lang="en-IN" sz="2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conversation context for follow-up questions.</a:t>
            </a:r>
          </a:p>
          <a:p>
            <a:pPr marL="514350" lvl="0" indent="-514350" algn="just">
              <a:buFont typeface="+mj-lt"/>
              <a:buAutoNum type="arabicPeriod"/>
            </a:pPr>
            <a:r>
              <a:rPr lang="en-US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Intelligent Escalation: </a:t>
            </a:r>
            <a:r>
              <a:rPr lang="en-US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Identifies </a:t>
            </a:r>
            <a:r>
              <a:rPr lang="en-US" sz="26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unresolved or human-required queries</a:t>
            </a:r>
            <a:r>
              <a:rPr lang="en-US" sz="26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for receptionist transfer.</a:t>
            </a:r>
            <a:endParaRPr lang="en-I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700">
              <a:lnSpc>
                <a:spcPct val="100000"/>
              </a:lnSpc>
              <a:spcBef>
                <a:spcPts val="755"/>
              </a:spcBef>
            </a:pPr>
            <a:endParaRPr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7696200" y="3009900"/>
            <a:ext cx="0" cy="4787265"/>
          </a:xfrm>
          <a:custGeom>
            <a:avLst/>
            <a:gdLst/>
            <a:ahLst/>
            <a:cxnLst/>
            <a:rect l="l" t="t" r="r" b="b"/>
            <a:pathLst>
              <a:path h="4787265">
                <a:moveTo>
                  <a:pt x="0" y="0"/>
                </a:moveTo>
                <a:lnTo>
                  <a:pt x="0" y="4786671"/>
                </a:lnTo>
              </a:path>
            </a:pathLst>
          </a:custGeom>
          <a:ln w="38099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57139" y="1622194"/>
            <a:ext cx="17134205" cy="691856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987425" marR="5080" indent="-975360" algn="ctr">
              <a:lnSpc>
                <a:spcPts val="2630"/>
              </a:lnSpc>
              <a:spcBef>
                <a:spcPts val="195"/>
              </a:spcBef>
            </a:pPr>
            <a:r>
              <a:rPr lang="en-US" sz="24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USP: An intelligent voice receptionist that combines real-time telephony, speech recognition, RAG-based knowledge retrieval, local LLM reasoning, and planned human escalation for college communication.</a:t>
            </a:r>
            <a:endParaRPr sz="22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79666" y="8663969"/>
            <a:ext cx="15851489" cy="8335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2130"/>
              </a:lnSpc>
              <a:spcBef>
                <a:spcPts val="100"/>
              </a:spcBef>
            </a:pPr>
            <a:r>
              <a:rPr sz="1800" b="1" i="1" dirty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</a:t>
            </a:r>
            <a:r>
              <a:rPr sz="1800" b="1" i="1" spc="-55" dirty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800" b="1" i="1" dirty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MODEL:</a:t>
            </a:r>
            <a:endParaRPr lang="en-US" sz="1800" b="1" i="1" dirty="0">
              <a:solidFill>
                <a:srgbClr val="CC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lnSpc>
                <a:spcPts val="2130"/>
              </a:lnSpc>
              <a:spcBef>
                <a:spcPts val="100"/>
              </a:spcBef>
            </a:pPr>
            <a:r>
              <a:rPr lang="en-IN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AI Reception-as-a-Service: </a:t>
            </a:r>
            <a:r>
              <a:rPr lang="en-IN" sz="22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Automates routine college inquiries, reduces receptionist workload, and provides </a:t>
            </a:r>
            <a:r>
              <a:rPr lang="en-IN" sz="22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24×7 accessible information support</a:t>
            </a:r>
            <a:r>
              <a:rPr lang="en-IN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xmlns="" id="{1211E48D-25E2-D733-6272-1A09EC511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99" y="3314700"/>
            <a:ext cx="6697102" cy="40386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5604370" y="407403"/>
            <a:ext cx="7003415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USE </a:t>
            </a:r>
            <a:r>
              <a:rPr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CASE</a:t>
            </a:r>
          </a:p>
        </p:txBody>
      </p:sp>
      <p:sp>
        <p:nvSpPr>
          <p:cNvPr id="5" name="object 5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842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6819224" y="9380579"/>
            <a:ext cx="17081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800" spc="-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1001283"/>
              </p:ext>
            </p:extLst>
          </p:nvPr>
        </p:nvGraphicFramePr>
        <p:xfrm>
          <a:off x="715505" y="1219593"/>
          <a:ext cx="16781144" cy="791853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9528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195286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19528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195286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Use Case Step</a:t>
                      </a:r>
                      <a:endParaRPr lang="en-US" sz="2000" b="1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Module(s) Involved</a:t>
                      </a:r>
                      <a:endParaRPr lang="en-US" sz="2000" b="1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Status</a:t>
                      </a:r>
                      <a:endParaRPr lang="en-US" sz="2000" b="1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CC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Notes</a:t>
                      </a:r>
                      <a:endParaRPr lang="en-US" sz="2000" b="1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CC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Caller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Initiates Voice Call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MicroSIP</a:t>
                      </a:r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, Asterisk, </a:t>
                      </a:r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AudioSocket</a:t>
                      </a:r>
                      <a:endParaRPr lang="en-US" sz="19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Receives caller audio through SIP telephony.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Speech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Recognition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Audio Gateway, VAD, Faster-Whisper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Detects speech and converts caller speech to text.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Knowledge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Retrieval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RAG, Sentence Transformers, </a:t>
                      </a:r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ChromaDB</a:t>
                      </a:r>
                      <a:endParaRPr lang="en-US" sz="1900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Retrieves relevant institutional knowledge.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Grounded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Response Generation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Ollama</a:t>
                      </a:r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, RAG Pipeline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Generates answers using retrieved college information.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Voice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Response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Piper TTS, </a:t>
                      </a:r>
                      <a:r>
                        <a:rPr lang="en-US" sz="1900" dirty="0" err="1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AudioSocket</a:t>
                      </a:r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, Asterisk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Live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Converts response to speech and plays it to caller.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6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5"/>
                  </a:ext>
                </a:extLst>
              </a:tr>
              <a:tr h="1131219"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Follow-up </a:t>
                      </a:r>
                      <a:r>
                        <a:rPr lang="en-US" sz="1900" b="1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Query</a:t>
                      </a:r>
                    </a:p>
                  </a:txBody>
                  <a:tcPr anchor="ctr">
                    <a:lnL w="9525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Session Context, STT, RAG, LLM, TTS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1" dirty="0" smtClean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Implemented / Tested</a:t>
                      </a:r>
                      <a:endParaRPr lang="en-US" sz="1900" b="1" dirty="0"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900" dirty="0"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Maintains context for follow-up questions within the call.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9D9D9"/>
                      </a:solidFill>
                      <a:prstDash val="solid"/>
                    </a:lnR>
                    <a:lnT w="9525">
                      <a:solidFill>
                        <a:srgbClr val="D9D9D9"/>
                      </a:solidFill>
                      <a:prstDash val="solid"/>
                    </a:lnT>
                    <a:lnB w="9525">
                      <a:solidFill>
                        <a:srgbClr val="D9D9D9"/>
                      </a:solidFill>
                      <a:prstDash val="solid"/>
                    </a:lnB>
                    <a:solidFill>
                      <a:srgbClr val="FFE6B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3141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USE CASE – LIVE </a:t>
            </a:r>
            <a:r>
              <a:rPr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8950" y="1678667"/>
            <a:ext cx="5295899" cy="281784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3129" y="1660929"/>
            <a:ext cx="5362574" cy="285332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4253" y="5631328"/>
            <a:ext cx="5772149" cy="306523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48730" y="1584662"/>
            <a:ext cx="5743574" cy="3056048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4585" y="5631328"/>
            <a:ext cx="5248274" cy="3065230"/>
          </a:xfrm>
          <a:prstGeom prst="rect">
            <a:avLst/>
          </a:prstGeom>
        </p:spPr>
      </p:pic>
      <p:sp>
        <p:nvSpPr>
          <p:cNvPr id="9" name="object 9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842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16673968" y="9380579"/>
            <a:ext cx="3162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009457" y="4802312"/>
            <a:ext cx="154709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Live call execution demonstrating the implemented Phase-1 voice → RAG → LLM → TTS pipeline.</a:t>
            </a:r>
            <a:endParaRPr lang="en-US" sz="28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60637" rIns="0" bIns="0" rtlCol="0">
            <a:spAutoFit/>
          </a:bodyPr>
          <a:lstStyle/>
          <a:p>
            <a:pPr marL="235521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USE CASE – LIVE </a:t>
            </a:r>
            <a:r>
              <a:rPr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7940" y="3479414"/>
            <a:ext cx="5327753" cy="368221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1961" y="1877986"/>
            <a:ext cx="5337938" cy="368221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1150698" y="7810500"/>
            <a:ext cx="16070502" cy="78483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065" marR="5080" indent="-635" algn="ctr">
              <a:lnSpc>
                <a:spcPct val="100000"/>
              </a:lnSpc>
              <a:spcBef>
                <a:spcPts val="120"/>
              </a:spcBef>
            </a:pPr>
            <a:r>
              <a:rPr lang="en-US" sz="2500" b="1" dirty="0" smtClean="0">
                <a:solidFill>
                  <a:srgbClr val="CC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The implemented RAG pipeline was evaluated using 20 test queries. The system achieved 100% Retrieval Hit@5, 94.44% Answer Accuracy on normal queries, and 100% Refusal Accuracy on negative queries.</a:t>
            </a:r>
            <a:endParaRPr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766040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56168" y="3479413"/>
            <a:ext cx="4710568" cy="36822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6299440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180603"/>
              </p:ext>
            </p:extLst>
          </p:nvPr>
        </p:nvGraphicFramePr>
        <p:xfrm>
          <a:off x="837248" y="2324101"/>
          <a:ext cx="16916401" cy="67728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774779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147577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Alec Radford et al. (2022)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Robust Speech Recognition via Large-Scale Weak Supervision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283210" indent="-189865">
                        <a:lnSpc>
                          <a:spcPct val="100000"/>
                        </a:lnSpc>
                        <a:spcBef>
                          <a:spcPts val="969"/>
                        </a:spcBef>
                        <a:buChar char="•"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Whisper encoder-decoder Transformer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Trained using large-scale multilingual and multitask speech data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Demonstrates robust speech recognition across accents, languages, background noise, and different speech conditions, making Whisper suitable for the STT layer of voice applications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707044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 err="1"/>
                        <a:t>Ghayas</a:t>
                      </a:r>
                      <a:r>
                        <a:rPr lang="en-IN" sz="2600" dirty="0"/>
                        <a:t> Ahmed &amp; Aadil Ahmad </a:t>
                      </a:r>
                      <a:r>
                        <a:rPr lang="en-IN" sz="2600" dirty="0" err="1"/>
                        <a:t>Lawaye</a:t>
                      </a:r>
                      <a:r>
                        <a:rPr lang="en-IN" sz="2600" dirty="0"/>
                        <a:t>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End-to-end ASR framework for Indian-English accent: using speech CNN-based segmentation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189865">
                        <a:lnSpc>
                          <a:spcPct val="114999"/>
                        </a:lnSpc>
                        <a:spcBef>
                          <a:spcPts val="520"/>
                        </a:spcBef>
                        <a:buChar char="•"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End-to-end ASR framework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CNN-based speech segmentation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Specifically considers Indian-English accent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the importance of handling Indian-English pronunciation and long-form speech effectively, supporting accent-aware STT evaluation for the proposed receptionist.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61470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679424"/>
              </p:ext>
            </p:extLst>
          </p:nvPr>
        </p:nvGraphicFramePr>
        <p:xfrm>
          <a:off x="914400" y="2209759"/>
          <a:ext cx="16915449" cy="679299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3829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776632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546344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Tahir Javed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 err="1"/>
                        <a:t>Svarah</a:t>
                      </a:r>
                      <a:r>
                        <a:rPr lang="en-IN" sz="2800" dirty="0"/>
                        <a:t>: Evaluating English ASR Systems on Indian Accents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800" dirty="0"/>
                        <a:t>• Indian-English speech benchmark</a:t>
                      </a:r>
                      <a:br>
                        <a:rPr lang="en-IN" sz="2800" dirty="0"/>
                      </a:br>
                      <a:r>
                        <a:rPr lang="en-IN" sz="2800" dirty="0"/>
                        <a:t>• Evaluated ASR systems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ASR systems require evaluation and improvement for Indian accents.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344567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Shelly Jain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An Investigation of Indian Native Language Phonemic Influences on L2 English Pronunciations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Analysed 18 Indian languages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Studied pronunciation variations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Shows that native-language influence affects Indian-English pronunciation and provides useful insights for improving accent robustness in speech systems.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02405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93646DE-D763-3347-EBDC-8B3A2BA5D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xmlns="" id="{2C54D03E-E9B5-9663-C26F-EAA894009192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xmlns="" id="{7ADD90CE-C600-0721-0C71-EC7FB369B752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xmlns="" id="{787E576B-F5D6-BE89-0CFB-04DE94588DAA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xmlns="" id="{D151BA90-4025-F18C-776F-C76D0438823E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:a16="http://schemas.microsoft.com/office/drawing/2014/main" xmlns="" id="{5ABE2046-F95F-5586-6A9B-0533A45378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xmlns="" id="{4BB4908D-9C3B-451A-FD4F-A7F92DB7BC23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xmlns="" id="{5B5658E6-11DD-40FF-C648-09C2FB0D4BE7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64518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xmlns="" id="{6F3F5ED6-DCA1-15F8-62BF-701C2BF0A00A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:a16="http://schemas.microsoft.com/office/drawing/2014/main" xmlns="" id="{FCF7A402-44B1-6283-B606-2DF60193C6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432766"/>
              </p:ext>
            </p:extLst>
          </p:nvPr>
        </p:nvGraphicFramePr>
        <p:xfrm>
          <a:off x="837248" y="2324101"/>
          <a:ext cx="16916401" cy="662507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801411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023565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Priyanshi Pal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Study of Indian English Pronunciation Variabilities Relative to Received Pronunciation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600" dirty="0"/>
                        <a:t>Analysed Indian-English pronunciation variations </a:t>
                      </a:r>
                    </a:p>
                    <a:p>
                      <a:pPr marL="457200" lvl="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600" dirty="0"/>
                        <a:t>Developed phonetic rules for ASR/TTS</a:t>
                      </a:r>
                    </a:p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Demonstrates that Indian-English pronunciation variations should be considered when designing ASR and TTS systems for Indian users.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2728224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Munazza Zaib et al. (2022)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/>
                        <a:t>Conversational Question Answering: A Survey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457200" lvl="0" indent="-457200">
                        <a:buFont typeface="Arial" panose="020B0604020202020204" pitchFamily="34" charset="0"/>
                        <a:buChar char="•"/>
                      </a:pPr>
                      <a:r>
                        <a:rPr lang="en-US" sz="26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en-IN" sz="2600" dirty="0"/>
                        <a:t>Reviews conversational QA systems </a:t>
                      </a:r>
                    </a:p>
                    <a:p>
                      <a:pPr marL="457200" lvl="0" indent="-457200">
                        <a:buFont typeface="Arial" panose="020B0604020202020204" pitchFamily="34" charset="0"/>
                        <a:buChar char="•"/>
                      </a:pPr>
                      <a:r>
                        <a:rPr lang="en-IN" sz="2600" dirty="0"/>
                        <a:t>Covers multi-turn question answering</a:t>
                      </a:r>
                    </a:p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Establishes the importance of context-aware, multi-turn QA, directly supporting the receptionist's ability to handle follow-up questions during the same call.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5524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C5D51AE-0BA9-64D0-D898-A0FF883AD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xmlns="" id="{B8C3D6AA-CD68-C4D3-3557-FE65307C5DB8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xmlns="" id="{197925A6-921C-DCC2-C7EB-26688F7EDDC2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xmlns="" id="{AF198472-3A78-8BDE-D890-2C05F206CB59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xmlns="" id="{4A2B7E28-328C-3DE3-3DE1-5F93C3EC0F04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:a16="http://schemas.microsoft.com/office/drawing/2014/main" xmlns="" id="{1AB5EE96-FEF1-3C1F-B276-F1DF452D6E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xmlns="" id="{FAC24527-DFDE-6CF2-D63B-9679AB41F00D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xmlns="" id="{443FC22F-3917-6FB9-B70B-895272CFABC8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9946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xmlns="" id="{D07CD5ED-A53C-E002-45B8-8FDA2C14797B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:a16="http://schemas.microsoft.com/office/drawing/2014/main" xmlns="" id="{283ECB91-059E-4685-CE08-5309551754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2346756"/>
              </p:ext>
            </p:extLst>
          </p:nvPr>
        </p:nvGraphicFramePr>
        <p:xfrm>
          <a:off x="837248" y="2324101"/>
          <a:ext cx="16916401" cy="68206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746915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817963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Ryan Fellows et al. (2022)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Task-Oriented Dialogue Systems: Performance vs. Quality-Optima, A Review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Reviews task-oriented dialogue systems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Analyses task resolution and conversational quality attributes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that successful task completion alone is insufficient; conversational quality and user satisfaction are also important for an effective AI receptionist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122527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Vojtěch Hudeček &amp; Ondřej Dušek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Are Large Language Models All You Need for Task-Oriented Dialogue?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Evaluates LLMs for multi-turn task-oriented dialogue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Tests interaction with external databases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Finds that LLMs can generate effective task-oriented responses but still have limitations in precise state tracking, supporting the use of controlled retrieval and API-based processing.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0465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8DD44CA-8013-CEA1-74D6-80D601CB1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xmlns="" id="{A395AF8A-968C-FA87-0FA8-B8FCDA3CFCE2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xmlns="" id="{70460B68-4008-E80E-DF49-20809D651AD1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xmlns="" id="{F51F8E4F-1C79-E80B-0C68-B7192BD579AC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xmlns="" id="{417ADF18-2F46-2E55-2E86-F3D97E69A24F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:a16="http://schemas.microsoft.com/office/drawing/2014/main" xmlns="" id="{875CC6D2-3AED-FD2A-EABB-2FDF17C476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xmlns="" id="{44CE3644-728C-B334-BC47-182AEC625666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xmlns="" id="{D8AEF345-39FA-C075-C546-E490938A5CED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9184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xmlns="" id="{CC503AD2-FEB3-1BAE-7D6F-0DA96D2FB54D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:a16="http://schemas.microsoft.com/office/drawing/2014/main" xmlns="" id="{58EFCAB4-6D9C-3384-5945-190247BBAF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864488"/>
              </p:ext>
            </p:extLst>
          </p:nvPr>
        </p:nvGraphicFramePr>
        <p:xfrm>
          <a:off x="837248" y="2324101"/>
          <a:ext cx="16916401" cy="68134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493391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138010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Gonçalo Raposo et al. (2023)</a:t>
                      </a:r>
                      <a:endParaRPr lang="en-IN"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Prompting, Retrieval, Training: An Exploration of Different Approaches for Task-Oriented Dialogue Generation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Compares prompting, retrieval and fine-tuning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Evaluates FLAN-T5, GPT-3.5 and GPT-4 on dialogue datasets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that combining general LLMs with retrieval-based prompting can be effective for task-oriented dialogue, supporting the proposed RAG-based approach.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050309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 err="1"/>
                        <a:t>Shunyu</a:t>
                      </a:r>
                      <a:r>
                        <a:rPr lang="en-IN" sz="2800" dirty="0"/>
                        <a:t> Yao et al. (2022)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800" dirty="0" err="1"/>
                        <a:t>ReAct</a:t>
                      </a:r>
                      <a:r>
                        <a:rPr lang="en-IN" sz="2800" dirty="0"/>
                        <a:t>: Synergizing Reasoning and Acting in Language Models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Combines reasoning and action generation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Allows LLMs to interact with external knowledge sources and environments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Supports intelligent reasoning and actions.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Enables interaction with external tools.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 Provides a basis for Agentic AI.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07396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C7986B7-06DD-B53F-FDD7-A4CE62328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xmlns="" id="{502761D6-DFC7-C1E8-1F84-B21D3E12168D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xmlns="" id="{335A59E9-2142-8FD7-42B4-5987009AC532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xmlns="" id="{8808CCAA-BC9E-E3C7-3449-237F4430972D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xmlns="" id="{8C3BF78B-A977-44E5-C0F0-03A7A60B948C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:a16="http://schemas.microsoft.com/office/drawing/2014/main" xmlns="" id="{7D2F8BD5-0071-E69E-EABB-3499EDA7D4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xmlns="" id="{4AE98555-717D-C0B9-2B11-015DB0D06AAB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xmlns="" id="{AA552045-F29F-FC9C-2DF4-8795921E290C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842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xmlns="" id="{A49154D5-0AFC-8387-8EE9-019D734728B1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:a16="http://schemas.microsoft.com/office/drawing/2014/main" xmlns="" id="{B7D2F514-2FEC-2775-0E97-82A9C723A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886524"/>
              </p:ext>
            </p:extLst>
          </p:nvPr>
        </p:nvGraphicFramePr>
        <p:xfrm>
          <a:off x="837248" y="2324101"/>
          <a:ext cx="16916401" cy="68134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493391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138010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Timo Schick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 err="1"/>
                        <a:t>Toolformer</a:t>
                      </a:r>
                      <a:r>
                        <a:rPr lang="en-IN" sz="2600" dirty="0"/>
                        <a:t>: Language Models Can Teach Themselves to Use Tools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LLM learns when and how to call external APIs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Integrates external tools into language generation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Demonstrates that LLMs can use external APIs for tasks requiring factual lookup and computation, supporting future integration with institutional APIs such as </a:t>
                      </a:r>
                      <a:r>
                        <a:rPr lang="en-IN" sz="2600" dirty="0" err="1"/>
                        <a:t>DigiCampus</a:t>
                      </a:r>
                      <a:r>
                        <a:rPr lang="en-IN" sz="2600" dirty="0"/>
                        <a:t>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050309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Shishir G. Patil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Gorilla: Large Language Model Connected with Massive APIs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Fine-tuned LLM for accurate API-call generation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Uses document retrieval with API information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that retrieval-assisted API calling can reduce incorrect tool usage and improve reliability, relevant to secure student-data API access in Phase 2.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910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6CFD2D5-60E0-5C87-E11F-C82090E9B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xmlns="" id="{BD0F9CDB-6C79-BA84-35D8-276C9B03C22B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xmlns="" id="{08E11D3A-5A31-5138-FA7B-FD9235C582CB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xmlns="" id="{4EAF3425-70EB-9D4C-2BF3-16CF93A1DB04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xmlns="" id="{A4390962-1587-8C73-65F2-8265BB329355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:a16="http://schemas.microsoft.com/office/drawing/2014/main" xmlns="" id="{55B70CC5-914E-8233-DE06-F77E4E9773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xmlns="" id="{DD2CABDD-1565-46CD-4702-4C36B55F1F1F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xmlns="" id="{06DE39DF-A606-9816-AF64-E05DDFC764E1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7660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xmlns="" id="{EEB4A85A-AAC1-4B1F-2267-076AC06AA5C4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:a16="http://schemas.microsoft.com/office/drawing/2014/main" xmlns="" id="{11E025CE-F471-B134-2643-FE38ACAF94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2683218"/>
              </p:ext>
            </p:extLst>
          </p:nvPr>
        </p:nvGraphicFramePr>
        <p:xfrm>
          <a:off x="837248" y="2324101"/>
          <a:ext cx="16916401" cy="68736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500878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185631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Lei Wang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A Survey on Large Language Model based Autonomous Agents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Reviews LLM-based autonomous-agent architectures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Studies planning, tool use, applications and evaluation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Provides a broad foundation for designing Agentic AI systems and supports the proposed architecture where the LLM decides whether to answer, retrieve information or invoke an external service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110548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Xiao Liu et al. (2023)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 err="1"/>
                        <a:t>AgentBench</a:t>
                      </a:r>
                      <a:r>
                        <a:rPr lang="en-IN" sz="2600" dirty="0"/>
                        <a:t>: Evaluating LLMs as Agents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Evaluates LLM agents across eight interactive environments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Measures reasoning and decision-making abilities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• Agent behaviour requires proper evaluation.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Highlights reasoning limitations.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Supports controlled agent design.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998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1B97794-610B-2978-E061-1C23DF287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xmlns="" id="{E66F3C24-CE4C-BACD-BBE5-F5EB6EF5A428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xmlns="" id="{43AA42D7-A1E2-71F9-D6C9-7BABD405EBB2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xmlns="" id="{EE6C9C0C-7C07-5901-1B04-6090A570FC1F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xmlns="" id="{8579B930-7AB7-8CC2-45F0-BA416F13E9C0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:a16="http://schemas.microsoft.com/office/drawing/2014/main" xmlns="" id="{DEA058EB-2DC1-B98A-32F1-B0EFD714C5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xmlns="" id="{62886794-15B2-C3B9-0EEE-25DFE65FDCAE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xmlns="" id="{04BF2D38-F505-6D8C-374E-C210FD83C92B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7660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xmlns="" id="{005A2EFC-3195-4C23-9DCF-87BC2E88725B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r>
          </a:p>
        </p:txBody>
      </p:sp>
      <p:graphicFrame>
        <p:nvGraphicFramePr>
          <p:cNvPr id="7" name="object 7">
            <a:extLst>
              <a:ext uri="{FF2B5EF4-FFF2-40B4-BE49-F238E27FC236}">
                <a16:creationId xmlns:a16="http://schemas.microsoft.com/office/drawing/2014/main" xmlns="" id="{7EDBFEAC-D761-DBF9-A01D-0B3818F655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12910"/>
              </p:ext>
            </p:extLst>
          </p:nvPr>
        </p:nvGraphicFramePr>
        <p:xfrm>
          <a:off x="837248" y="2324101"/>
          <a:ext cx="16916401" cy="67903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497010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3161030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 err="1"/>
                        <a:t>Yunfan</a:t>
                      </a:r>
                      <a:r>
                        <a:rPr lang="en-IN" sz="2600" dirty="0"/>
                        <a:t> Gao et al. (2024)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Retrieval-Augmented Generation for Large Language Models: A Survey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Reviews Naive, Advanced and Modular RAG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Analyses retrieval, augmentation and generation components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Establishes RAG as an effective approach for reducing hallucination and incorporating domain-specific, updatable knowledge into LLM applications.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027239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Akari Asai et al. (2024)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Self-RAG: Learning to Retrieve, Generate, and Critique through Self-Reflection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Adaptive retrieval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Generation with self-reflection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Critiques retrieved evidence and generated responses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Self-reflection improves factuality Supports better response grounding , Improves retrieval and generation quality.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1949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35B8B89-706A-6C4A-759E-0C6DFB533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xmlns="" id="{E9461E71-F98A-7B41-27A1-389C253A1756}"/>
              </a:ext>
            </a:extLst>
          </p:cNvPr>
          <p:cNvGrpSpPr/>
          <p:nvPr/>
        </p:nvGrpSpPr>
        <p:grpSpPr>
          <a:xfrm>
            <a:off x="837248" y="1897372"/>
            <a:ext cx="9348470" cy="207645"/>
            <a:chOff x="1197768" y="2328862"/>
            <a:chExt cx="9348470" cy="207645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xmlns="" id="{4677A706-CE1A-BA53-976A-0D0A3E75B4FB}"/>
                </a:ext>
              </a:extLst>
            </p:cNvPr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xmlns="" id="{C4AD104F-BFEE-C317-3EEE-B0DE6FEE6EA2}"/>
                </a:ext>
              </a:extLst>
            </p:cNvPr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>
            <a:extLst>
              <a:ext uri="{FF2B5EF4-FFF2-40B4-BE49-F238E27FC236}">
                <a16:creationId xmlns:a16="http://schemas.microsoft.com/office/drawing/2014/main" xmlns="" id="{8096B6AC-2FE1-00CD-06BC-652E58107BD5}"/>
              </a:ext>
            </a:extLst>
          </p:cNvPr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>
            <a:extLst>
              <a:ext uri="{FF2B5EF4-FFF2-40B4-BE49-F238E27FC236}">
                <a16:creationId xmlns:a16="http://schemas.microsoft.com/office/drawing/2014/main" xmlns="" id="{39500911-52F2-8B2A-0B18-6F4D22ABB9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110580" y="197232"/>
            <a:ext cx="14326368" cy="963711"/>
          </a:xfrm>
          <a:prstGeom prst="rect">
            <a:avLst/>
          </a:prstGeom>
        </p:spPr>
        <p:txBody>
          <a:bodyPr vert="horz" wrap="square" lIns="0" tIns="222871" rIns="0" bIns="0" rtlCol="0">
            <a:spAutoFit/>
          </a:bodyPr>
          <a:lstStyle/>
          <a:p>
            <a:pPr marL="4573905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SURVEY</a:t>
            </a:r>
          </a:p>
        </p:txBody>
      </p:sp>
      <p:sp>
        <p:nvSpPr>
          <p:cNvPr id="8" name="object 8">
            <a:extLst>
              <a:ext uri="{FF2B5EF4-FFF2-40B4-BE49-F238E27FC236}">
                <a16:creationId xmlns:a16="http://schemas.microsoft.com/office/drawing/2014/main" xmlns="" id="{3C490302-5439-1896-F862-A8891A65CE8E}"/>
              </a:ext>
            </a:extLst>
          </p:cNvPr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9" name="object 9">
            <a:extLst>
              <a:ext uri="{FF2B5EF4-FFF2-40B4-BE49-F238E27FC236}">
                <a16:creationId xmlns:a16="http://schemas.microsoft.com/office/drawing/2014/main" xmlns="" id="{05CE38FA-11AB-AA91-6F54-9A8504CFD422}"/>
              </a:ext>
            </a:extLst>
          </p:cNvPr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5842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xmlns="" id="{D89B5049-B038-FBAB-9B8B-BA0781A9D5DF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>
          <a:xfrm>
            <a:off x="16673968" y="9380579"/>
            <a:ext cx="3543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lang="en-US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</a:t>
            </a:r>
            <a:endParaRPr spc="-25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object 7">
            <a:extLst>
              <a:ext uri="{FF2B5EF4-FFF2-40B4-BE49-F238E27FC236}">
                <a16:creationId xmlns:a16="http://schemas.microsoft.com/office/drawing/2014/main" xmlns="" id="{D87B8895-02E2-B219-C04D-960FB28B3E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3099196"/>
              </p:ext>
            </p:extLst>
          </p:nvPr>
        </p:nvGraphicFramePr>
        <p:xfrm>
          <a:off x="837248" y="2210280"/>
          <a:ext cx="16916401" cy="69611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3478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4562105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447159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4547921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</a:tblGrid>
              <a:tr h="497036">
                <a:tc>
                  <a:txBody>
                    <a:bodyPr/>
                    <a:lstStyle/>
                    <a:p>
                      <a:pPr marL="447040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Author(s)</a:t>
                      </a:r>
                      <a:r>
                        <a:rPr sz="2500" b="1" spc="-5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4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Year</a:t>
                      </a:r>
                      <a:r>
                        <a:rPr lang="en-US"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95821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Title</a:t>
                      </a:r>
                      <a:r>
                        <a:rPr sz="2500" b="1" spc="-3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500" b="1" spc="-3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2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Paper</a:t>
                      </a:r>
                      <a:endParaRPr sz="25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marL="408305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Methodology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/</a:t>
                      </a:r>
                      <a:r>
                        <a:rPr sz="2500" b="1" spc="-5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Approach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994"/>
                        </a:spcBef>
                      </a:pPr>
                      <a:r>
                        <a:rPr sz="2500" b="1" spc="-10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Inference</a:t>
                      </a:r>
                      <a:endParaRPr sz="2500">
                        <a:latin typeface="Times New Roman"/>
                        <a:cs typeface="Times New Roman"/>
                      </a:endParaRPr>
                    </a:p>
                  </a:txBody>
                  <a:tcPr marL="0" marR="0" marT="126364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A2B1C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2883056">
                <a:tc>
                  <a:txBody>
                    <a:bodyPr/>
                    <a:lstStyle/>
                    <a:p>
                      <a:pPr marL="93345" marR="22987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Shi-Qi Yan et al. (2024)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15875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Corrective Retrieval Augmented Generation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indent="0">
                        <a:lnSpc>
                          <a:spcPct val="100000"/>
                        </a:lnSpc>
                        <a:spcBef>
                          <a:spcPts val="969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Retrieval-quality evaluator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Corrective retrieval actions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Filters irrelevant retrieved information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123189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62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Shows that evaluating retrieval quality before generation can improve RAG robustness, supporting confidence-based answering and escalation when reliable information is unavailable.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3161192">
                <a:tc>
                  <a:txBody>
                    <a:bodyPr/>
                    <a:lstStyle/>
                    <a:p>
                      <a:pPr marL="93345" marR="97028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Shahul Es et al. (2024)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281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RAGAs: Automated Evaluation of Retrieval Augmented Generation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569595" indent="0">
                        <a:lnSpc>
                          <a:spcPct val="114999"/>
                        </a:lnSpc>
                        <a:spcBef>
                          <a:spcPts val="520"/>
                        </a:spcBef>
                        <a:buNone/>
                        <a:tabLst>
                          <a:tab pos="283210" algn="l"/>
                        </a:tabLst>
                      </a:pPr>
                      <a:r>
                        <a:rPr lang="en-IN" sz="2600" dirty="0"/>
                        <a:t>• Reference-free RAG evaluation</a:t>
                      </a:r>
                      <a:br>
                        <a:rPr lang="en-IN" sz="2600" dirty="0"/>
                      </a:br>
                      <a:r>
                        <a:rPr lang="en-IN" sz="2600" dirty="0"/>
                        <a:t>• Measures retrieval relevance, generation quality and faithfulness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tc>
                  <a:txBody>
                    <a:bodyPr/>
                    <a:lstStyle/>
                    <a:p>
                      <a:pPr marL="93345" marR="408940">
                        <a:lnSpc>
                          <a:spcPct val="114999"/>
                        </a:lnSpc>
                        <a:spcBef>
                          <a:spcPts val="520"/>
                        </a:spcBef>
                      </a:pPr>
                      <a:r>
                        <a:rPr lang="en-IN" sz="2600" dirty="0"/>
                        <a:t>Provides a practical framework for evaluating the proposed RAG pipeline, particularly for measuring whether responses are grounded in retrieved college information. </a:t>
                      </a: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604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F0F1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7434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197768" y="2328862"/>
            <a:ext cx="9348470" cy="207645"/>
            <a:chOff x="1197768" y="2328862"/>
            <a:chExt cx="9348470" cy="207645"/>
          </a:xfrm>
        </p:grpSpPr>
        <p:sp>
          <p:nvSpPr>
            <p:cNvPr id="3" name="object 3"/>
            <p:cNvSpPr/>
            <p:nvPr/>
          </p:nvSpPr>
          <p:spPr>
            <a:xfrm>
              <a:off x="1212056" y="2343150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9319355" y="178593"/>
                  </a:moveTo>
                  <a:lnTo>
                    <a:pt x="0" y="178593"/>
                  </a:lnTo>
                  <a:lnTo>
                    <a:pt x="0" y="0"/>
                  </a:lnTo>
                  <a:lnTo>
                    <a:pt x="9319355" y="0"/>
                  </a:lnTo>
                  <a:lnTo>
                    <a:pt x="9319355" y="178593"/>
                  </a:lnTo>
                  <a:close/>
                </a:path>
              </a:pathLst>
            </a:custGeom>
            <a:solidFill>
              <a:srgbClr val="CC0000"/>
            </a:solidFill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object 4"/>
            <p:cNvSpPr/>
            <p:nvPr/>
          </p:nvSpPr>
          <p:spPr>
            <a:xfrm>
              <a:off x="1212056" y="2343149"/>
              <a:ext cx="9319895" cy="179070"/>
            </a:xfrm>
            <a:custGeom>
              <a:avLst/>
              <a:gdLst/>
              <a:ahLst/>
              <a:cxnLst/>
              <a:rect l="l" t="t" r="r" b="b"/>
              <a:pathLst>
                <a:path w="9319895" h="179069">
                  <a:moveTo>
                    <a:pt x="0" y="0"/>
                  </a:moveTo>
                  <a:lnTo>
                    <a:pt x="9319354" y="0"/>
                  </a:lnTo>
                  <a:lnTo>
                    <a:pt x="9319354" y="178593"/>
                  </a:lnTo>
                  <a:lnTo>
                    <a:pt x="0" y="178593"/>
                  </a:lnTo>
                  <a:lnTo>
                    <a:pt x="0" y="0"/>
                  </a:lnTo>
                  <a:close/>
                </a:path>
              </a:pathLst>
            </a:custGeom>
            <a:ln w="28574">
              <a:solidFill>
                <a:srgbClr val="CC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5" name="object 5"/>
          <p:cNvSpPr/>
          <p:nvPr/>
        </p:nvSpPr>
        <p:spPr>
          <a:xfrm>
            <a:off x="1221581" y="9255948"/>
            <a:ext cx="15845155" cy="5080"/>
          </a:xfrm>
          <a:custGeom>
            <a:avLst/>
            <a:gdLst/>
            <a:ahLst/>
            <a:cxnLst/>
            <a:rect l="l" t="t" r="r" b="b"/>
            <a:pathLst>
              <a:path w="15845155" h="5079">
                <a:moveTo>
                  <a:pt x="0" y="4701"/>
                </a:moveTo>
                <a:lnTo>
                  <a:pt x="15844836" y="0"/>
                </a:lnTo>
              </a:path>
            </a:pathLst>
          </a:custGeom>
          <a:ln w="9524">
            <a:solidFill>
              <a:srgbClr val="CC0000"/>
            </a:solidFill>
          </a:ln>
        </p:spPr>
        <p:txBody>
          <a:bodyPr wrap="square" lIns="0" tIns="0" rIns="0" bIns="0" rtlCol="0"/>
          <a:lstStyle/>
          <a:p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6798419" y="5187082"/>
            <a:ext cx="453898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</a:t>
            </a:r>
            <a:r>
              <a:rPr sz="6000" spc="-2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60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</a:t>
            </a:r>
            <a:endParaRPr sz="6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dt" sz="half" idx="6"/>
          </p:nvPr>
        </p:nvSpPr>
        <p:spPr>
          <a:xfrm>
            <a:off x="1297940" y="9380579"/>
            <a:ext cx="1423035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First</a:t>
            </a:r>
            <a:r>
              <a:rPr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</a:t>
            </a:r>
          </a:p>
        </p:txBody>
      </p:sp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6959360" y="9380579"/>
            <a:ext cx="4699239" cy="298799"/>
          </a:xfrm>
          <a:prstGeom prst="rect">
            <a:avLst/>
          </a:prstGeom>
        </p:spPr>
        <p:txBody>
          <a:bodyPr vert="horz" wrap="square" lIns="0" tIns="29209" rIns="0" bIns="0" rtlCol="0">
            <a:spAutoFit/>
          </a:bodyPr>
          <a:lstStyle/>
          <a:p>
            <a:pPr marL="1504950" marR="5080" indent="-1492885">
              <a:lnSpc>
                <a:spcPts val="2100"/>
              </a:lnSpc>
              <a:spcBef>
                <a:spcPts val="229"/>
              </a:spcBef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of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</a:t>
            </a:r>
            <a:r>
              <a:rPr spc="-6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Science</a:t>
            </a:r>
            <a:r>
              <a:rPr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Engineering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6673968" y="9380579"/>
            <a:ext cx="316230" cy="29110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800" spc="-25" dirty="0">
                <a:latin typeface="Times New Roman" panose="02020603050405020304" pitchFamily="18" charset="0"/>
                <a:cs typeface="Times New Roman" panose="02020603050405020304" pitchFamily="18" charset="0"/>
              </a:rPr>
              <a:t>21</a:t>
            </a:r>
            <a:endParaRPr sz="18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2863</TotalTime>
  <Words>2149</Words>
  <Application>Microsoft Office PowerPoint</Application>
  <PresentationFormat>Custom</PresentationFormat>
  <Paragraphs>319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Arial</vt:lpstr>
      <vt:lpstr>Calibri</vt:lpstr>
      <vt:lpstr>Times New Roman</vt:lpstr>
      <vt:lpstr>Verdana</vt:lpstr>
      <vt:lpstr>Office Theme</vt:lpstr>
      <vt:lpstr>Voice-Based AI Receptionist Agent for Smart College Communication  </vt:lpstr>
      <vt:lpstr>INTRODUCTION</vt:lpstr>
      <vt:lpstr>PROJECT OVERVIEW &amp; OBJECTIVES/SCOPE</vt:lpstr>
      <vt:lpstr>PROBLEM STATEMENT</vt:lpstr>
      <vt:lpstr>REALTIME CHALLENGES FACED</vt:lpstr>
      <vt:lpstr>METHODOLOGY</vt:lpstr>
      <vt:lpstr>SYSTEM ARCHITECTURE</vt:lpstr>
      <vt:lpstr>        NOVELTY AND KEY INNOVATIONS </vt:lpstr>
      <vt:lpstr>END-TO-END USE CASE</vt:lpstr>
      <vt:lpstr>END-TO-END USE CASE – LIVE DEMO</vt:lpstr>
      <vt:lpstr>END-TO-END USE CASE – LIVE DEMO</vt:lpstr>
      <vt:lpstr>LITERATURE SURVEY</vt:lpstr>
      <vt:lpstr>LITERATURE SURVEY</vt:lpstr>
      <vt:lpstr>LITERATURE SURVEY</vt:lpstr>
      <vt:lpstr>LITERATURE SURVEY</vt:lpstr>
      <vt:lpstr>LITERATURE SURVEY</vt:lpstr>
      <vt:lpstr>LITERATURE SURVEY</vt:lpstr>
      <vt:lpstr>LITERATURE SURVEY</vt:lpstr>
      <vt:lpstr>LITERATURE SURVEY</vt:lpstr>
      <vt:lpstr>LITERATURE SURVEY</vt:lpstr>
      <vt:lpstr>Thank You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1st Review ppt.pptx</dc:title>
  <dc:creator>MOHANA PRIYA R 230701191</dc:creator>
  <cp:keywords>DAHS-0TgD9Y,BAGTD6xFMaQ</cp:keywords>
  <cp:lastModifiedBy>kamalesh s.p.</cp:lastModifiedBy>
  <cp:revision>32</cp:revision>
  <dcterms:created xsi:type="dcterms:W3CDTF">2026-08-24T17:58:25Z</dcterms:created>
  <dcterms:modified xsi:type="dcterms:W3CDTF">2026-08-27T00:18:52Z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2026-08-23T00:00:00Z</vt:filetime>
  </property>
  <property fmtid="{D5CDD505-2E9C-101B-9397-08002B2CF9AE}" pid="4" name="Creator">
    <vt:lpwstr>Canva</vt:lpwstr>
  </property>
  <property fmtid="{D5CDD505-2E9C-101B-9397-08002B2CF9AE}" pid="5" name="LastSaved">
    <vt:filetime>2026-08-24T00:00:00Z</vt:filetime>
  </property>
  <property fmtid="{D5CDD505-2E9C-101B-9397-08002B2CF9AE}" pid="6" name="Producer">
    <vt:lpwstr>Canva</vt:lpwstr>
  </property>
</Properties>
</file>